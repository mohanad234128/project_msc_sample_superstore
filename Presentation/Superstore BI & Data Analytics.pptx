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Bricolage Grotesque" panose="020B0604020202020204" charset="0"/>
      <p:regular r:id="rId14"/>
    </p:embeddedFont>
    <p:embeddedFont>
      <p:font typeface="Bricolage Grotesque Bold" panose="020B0604020202020204" charset="0"/>
      <p:regular r:id="rId15"/>
    </p:embeddedFont>
    <p:embeddedFont>
      <p:font typeface="Canva Sans Bold" panose="020B0604020202020204" charset="0"/>
      <p:regular r:id="rId16"/>
    </p:embeddedFont>
    <p:embeddedFont>
      <p:font typeface="Poppins" panose="00000500000000000000" pitchFamily="2" charset="0"/>
      <p:regular r:id="rId17"/>
    </p:embeddedFont>
    <p:embeddedFont>
      <p:font typeface="Poppi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415882" cy="10287000"/>
            <a:chOff x="0" y="0"/>
            <a:chExt cx="636282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6282" cy="2709333"/>
            </a:xfrm>
            <a:custGeom>
              <a:avLst/>
              <a:gdLst/>
              <a:ahLst/>
              <a:cxnLst/>
              <a:rect l="l" t="t" r="r" b="b"/>
              <a:pathLst>
                <a:path w="636282" h="2709333">
                  <a:moveTo>
                    <a:pt x="0" y="0"/>
                  </a:moveTo>
                  <a:lnTo>
                    <a:pt x="636282" y="0"/>
                  </a:lnTo>
                  <a:lnTo>
                    <a:pt x="63628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293E9C">
                    <a:alpha val="100000"/>
                  </a:srgbClr>
                </a:gs>
                <a:gs pos="100000">
                  <a:srgbClr val="3A58E4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636282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641665" y="-771303"/>
            <a:ext cx="9230740" cy="16410204"/>
          </a:xfrm>
          <a:custGeom>
            <a:avLst/>
            <a:gdLst/>
            <a:ahLst/>
            <a:cxnLst/>
            <a:rect l="l" t="t" r="r" b="b"/>
            <a:pathLst>
              <a:path w="9230740" h="16410204">
                <a:moveTo>
                  <a:pt x="0" y="0"/>
                </a:moveTo>
                <a:lnTo>
                  <a:pt x="9230740" y="0"/>
                </a:lnTo>
                <a:lnTo>
                  <a:pt x="9230740" y="16410205"/>
                </a:lnTo>
                <a:lnTo>
                  <a:pt x="0" y="164102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839956" y="1028700"/>
            <a:ext cx="735971" cy="710546"/>
          </a:xfrm>
          <a:custGeom>
            <a:avLst/>
            <a:gdLst/>
            <a:ahLst/>
            <a:cxnLst/>
            <a:rect l="l" t="t" r="r" b="b"/>
            <a:pathLst>
              <a:path w="735971" h="710546">
                <a:moveTo>
                  <a:pt x="0" y="0"/>
                </a:moveTo>
                <a:lnTo>
                  <a:pt x="735970" y="0"/>
                </a:lnTo>
                <a:lnTo>
                  <a:pt x="735970" y="710546"/>
                </a:lnTo>
                <a:lnTo>
                  <a:pt x="0" y="7105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3320099" y="2005378"/>
            <a:ext cx="5996813" cy="32141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279"/>
              </a:lnSpc>
            </a:pPr>
            <a:r>
              <a:rPr lang="en-US" sz="8448" spc="-540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Superstore BI</a:t>
            </a:r>
          </a:p>
          <a:p>
            <a:pPr marL="0" lvl="0" indent="0" algn="l">
              <a:lnSpc>
                <a:spcPts val="8279"/>
              </a:lnSpc>
            </a:pPr>
            <a:r>
              <a:rPr lang="en-US" sz="8448" spc="-540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&amp; Data</a:t>
            </a:r>
          </a:p>
          <a:p>
            <a:pPr marL="0" lvl="0" indent="0" algn="l">
              <a:lnSpc>
                <a:spcPts val="8279"/>
              </a:lnSpc>
            </a:pPr>
            <a:r>
              <a:rPr lang="en-US" sz="8448" spc="-540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Analytics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20099" y="5598078"/>
            <a:ext cx="5696631" cy="1073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780"/>
              </a:lnSpc>
            </a:pPr>
            <a:r>
              <a:rPr lang="en-US" sz="2172" spc="-6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End-to-End Business Intelligence Solution</a:t>
            </a:r>
          </a:p>
          <a:p>
            <a:pPr marL="0" lvl="0" indent="0" algn="just">
              <a:lnSpc>
                <a:spcPts val="2780"/>
              </a:lnSpc>
            </a:pPr>
            <a:r>
              <a:rPr lang="en-US" sz="2172" spc="-6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Transforming Data into Actionable Business Insights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50972" y="1968832"/>
            <a:ext cx="1704171" cy="3421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419"/>
              </a:lnSpc>
            </a:pPr>
            <a:r>
              <a:rPr lang="en-US" sz="2261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Superstore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60740" y="2320516"/>
            <a:ext cx="1704171" cy="311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67"/>
              </a:lnSpc>
            </a:pPr>
            <a:r>
              <a:rPr lang="en-US" sz="211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Analytics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360740" y="8287049"/>
            <a:ext cx="1713939" cy="662868"/>
            <a:chOff x="0" y="0"/>
            <a:chExt cx="2285252" cy="8838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0"/>
              <a:ext cx="2272228" cy="4561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419"/>
                </a:lnSpc>
              </a:pPr>
              <a:r>
                <a:rPr lang="en-US" sz="2261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BI &amp;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024" y="465701"/>
              <a:ext cx="2272228" cy="4181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267"/>
                </a:lnSpc>
              </a:pPr>
              <a:r>
                <a:rPr lang="en-US" sz="2119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Data</a:t>
              </a:r>
            </a:p>
          </p:txBody>
        </p:sp>
      </p:grpSp>
      <p:sp>
        <p:nvSpPr>
          <p:cNvPr id="13" name="TextBox 11">
            <a:extLst>
              <a:ext uri="{FF2B5EF4-FFF2-40B4-BE49-F238E27FC236}">
                <a16:creationId xmlns:a16="http://schemas.microsoft.com/office/drawing/2014/main" id="{32380918-F422-612E-F5F0-EFE4EA43A575}"/>
              </a:ext>
            </a:extLst>
          </p:cNvPr>
          <p:cNvSpPr txBox="1"/>
          <p:nvPr/>
        </p:nvSpPr>
        <p:spPr>
          <a:xfrm>
            <a:off x="5448566" y="7469857"/>
            <a:ext cx="2061824" cy="3442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69"/>
              </a:lnSpc>
            </a:pPr>
            <a:r>
              <a:rPr lang="en-US" sz="2149" b="1" dirty="0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oppins Bold"/>
                <a:ea typeface="Poppins Bold"/>
                <a:cs typeface="Poppins Bold"/>
                <a:sym typeface="Poppins Bold"/>
              </a:rPr>
              <a:t>PRESENTED BY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1D438EFC-8648-CD04-8AE6-D09A038E06D6}"/>
              </a:ext>
            </a:extLst>
          </p:cNvPr>
          <p:cNvSpPr txBox="1"/>
          <p:nvPr/>
        </p:nvSpPr>
        <p:spPr>
          <a:xfrm>
            <a:off x="5283123" y="7972017"/>
            <a:ext cx="2392710" cy="295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752"/>
              </a:lnSpc>
            </a:pPr>
            <a:r>
              <a:rPr lang="en-US" sz="2014" dirty="0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oppins"/>
                <a:ea typeface="Poppins"/>
                <a:cs typeface="Poppins"/>
                <a:sym typeface="Poppins"/>
              </a:rPr>
              <a:t>Mohanad Ibrahim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741311" y="0"/>
            <a:ext cx="546689" cy="7173190"/>
            <a:chOff x="0" y="0"/>
            <a:chExt cx="143984" cy="18892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3984" cy="1889235"/>
            </a:xfrm>
            <a:custGeom>
              <a:avLst/>
              <a:gdLst/>
              <a:ahLst/>
              <a:cxnLst/>
              <a:rect l="l" t="t" r="r" b="b"/>
              <a:pathLst>
                <a:path w="143984" h="1889235">
                  <a:moveTo>
                    <a:pt x="0" y="0"/>
                  </a:moveTo>
                  <a:lnTo>
                    <a:pt x="143984" y="0"/>
                  </a:lnTo>
                  <a:lnTo>
                    <a:pt x="143984" y="1889235"/>
                  </a:lnTo>
                  <a:lnTo>
                    <a:pt x="0" y="1889235"/>
                  </a:lnTo>
                  <a:close/>
                </a:path>
              </a:pathLst>
            </a:custGeom>
            <a:gradFill rotWithShape="1">
              <a:gsLst>
                <a:gs pos="0">
                  <a:srgbClr val="293E9C">
                    <a:alpha val="100000"/>
                  </a:srgbClr>
                </a:gs>
                <a:gs pos="100000">
                  <a:srgbClr val="3A58E4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3984" cy="1927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 flipH="1">
            <a:off x="4442685" y="0"/>
            <a:ext cx="0" cy="1028700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8872264" y="0"/>
            <a:ext cx="0" cy="7163665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3301844" y="0"/>
            <a:ext cx="0" cy="7163665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0" y="7173190"/>
            <a:ext cx="18288000" cy="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16305" y="9608"/>
            <a:ext cx="1197405" cy="1196165"/>
            <a:chOff x="0" y="0"/>
            <a:chExt cx="1596540" cy="159488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42685" y="9608"/>
            <a:ext cx="1197405" cy="1196165"/>
            <a:chOff x="0" y="0"/>
            <a:chExt cx="1596540" cy="159488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875845" y="9608"/>
            <a:ext cx="1197405" cy="1196165"/>
            <a:chOff x="0" y="0"/>
            <a:chExt cx="1596540" cy="1594886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309005" y="9608"/>
            <a:ext cx="1197405" cy="1196165"/>
            <a:chOff x="0" y="0"/>
            <a:chExt cx="1596540" cy="1594886"/>
          </a:xfrm>
        </p:grpSpPr>
        <p:grpSp>
          <p:nvGrpSpPr>
            <p:cNvPr id="25" name="Group 25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04</a:t>
              </a:r>
            </a:p>
          </p:txBody>
        </p:sp>
      </p:grpSp>
      <p:sp>
        <p:nvSpPr>
          <p:cNvPr id="29" name="Freeform 29"/>
          <p:cNvSpPr/>
          <p:nvPr/>
        </p:nvSpPr>
        <p:spPr>
          <a:xfrm>
            <a:off x="10626011" y="1938707"/>
            <a:ext cx="842961" cy="679989"/>
          </a:xfrm>
          <a:custGeom>
            <a:avLst/>
            <a:gdLst/>
            <a:ahLst/>
            <a:cxnLst/>
            <a:rect l="l" t="t" r="r" b="b"/>
            <a:pathLst>
              <a:path w="842961" h="679989">
                <a:moveTo>
                  <a:pt x="0" y="0"/>
                </a:moveTo>
                <a:lnTo>
                  <a:pt x="842961" y="0"/>
                </a:lnTo>
                <a:lnTo>
                  <a:pt x="842961" y="679989"/>
                </a:lnTo>
                <a:lnTo>
                  <a:pt x="0" y="679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 rot="-5400000">
            <a:off x="15164526" y="1921074"/>
            <a:ext cx="730217" cy="751417"/>
          </a:xfrm>
          <a:custGeom>
            <a:avLst/>
            <a:gdLst/>
            <a:ahLst/>
            <a:cxnLst/>
            <a:rect l="l" t="t" r="r" b="b"/>
            <a:pathLst>
              <a:path w="730217" h="751417">
                <a:moveTo>
                  <a:pt x="0" y="0"/>
                </a:moveTo>
                <a:lnTo>
                  <a:pt x="730217" y="0"/>
                </a:lnTo>
                <a:lnTo>
                  <a:pt x="730217" y="751418"/>
                </a:lnTo>
                <a:lnTo>
                  <a:pt x="0" y="751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861530" y="1855282"/>
            <a:ext cx="750152" cy="895181"/>
          </a:xfrm>
          <a:custGeom>
            <a:avLst/>
            <a:gdLst/>
            <a:ahLst/>
            <a:cxnLst/>
            <a:rect l="l" t="t" r="r" b="b"/>
            <a:pathLst>
              <a:path w="750152" h="895181">
                <a:moveTo>
                  <a:pt x="0" y="0"/>
                </a:moveTo>
                <a:lnTo>
                  <a:pt x="750152" y="0"/>
                </a:lnTo>
                <a:lnTo>
                  <a:pt x="750152" y="895181"/>
                </a:lnTo>
                <a:lnTo>
                  <a:pt x="0" y="89518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2" name="Group 32"/>
          <p:cNvGrpSpPr/>
          <p:nvPr/>
        </p:nvGrpSpPr>
        <p:grpSpPr>
          <a:xfrm>
            <a:off x="1028700" y="8125800"/>
            <a:ext cx="22757" cy="975106"/>
            <a:chOff x="0" y="0"/>
            <a:chExt cx="12543" cy="53746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-9525" y="7173190"/>
            <a:ext cx="546689" cy="3113810"/>
            <a:chOff x="0" y="0"/>
            <a:chExt cx="143984" cy="82009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43984" cy="820098"/>
            </a:xfrm>
            <a:custGeom>
              <a:avLst/>
              <a:gdLst/>
              <a:ahLst/>
              <a:cxnLst/>
              <a:rect l="l" t="t" r="r" b="b"/>
              <a:pathLst>
                <a:path w="143984" h="820098">
                  <a:moveTo>
                    <a:pt x="0" y="0"/>
                  </a:moveTo>
                  <a:lnTo>
                    <a:pt x="143984" y="0"/>
                  </a:lnTo>
                  <a:lnTo>
                    <a:pt x="143984" y="820098"/>
                  </a:lnTo>
                  <a:lnTo>
                    <a:pt x="0" y="820098"/>
                  </a:lnTo>
                  <a:close/>
                </a:path>
              </a:pathLst>
            </a:custGeom>
            <a:gradFill rotWithShape="1">
              <a:gsLst>
                <a:gs pos="0">
                  <a:srgbClr val="3A58E4">
                    <a:alpha val="100000"/>
                  </a:srgbClr>
                </a:gs>
                <a:gs pos="100000">
                  <a:srgbClr val="293E9C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43984" cy="858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8" name="Freeform 38"/>
          <p:cNvSpPr/>
          <p:nvPr/>
        </p:nvSpPr>
        <p:spPr>
          <a:xfrm>
            <a:off x="6113668" y="1939492"/>
            <a:ext cx="1154813" cy="690688"/>
          </a:xfrm>
          <a:custGeom>
            <a:avLst/>
            <a:gdLst/>
            <a:ahLst/>
            <a:cxnLst/>
            <a:rect l="l" t="t" r="r" b="b"/>
            <a:pathLst>
              <a:path w="1154813" h="690688">
                <a:moveTo>
                  <a:pt x="0" y="0"/>
                </a:moveTo>
                <a:lnTo>
                  <a:pt x="1154814" y="0"/>
                </a:lnTo>
                <a:lnTo>
                  <a:pt x="1154814" y="690688"/>
                </a:lnTo>
                <a:lnTo>
                  <a:pt x="0" y="6906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TextBox 39"/>
          <p:cNvSpPr txBox="1"/>
          <p:nvPr/>
        </p:nvSpPr>
        <p:spPr>
          <a:xfrm>
            <a:off x="562973" y="4475524"/>
            <a:ext cx="3336787" cy="1843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Professional star schema with central fact table and six dimension tables optimized for complex analytics and scalable data growth.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989081" y="4780324"/>
            <a:ext cx="3336787" cy="153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Complex CTEs, window functions, and self-joins enabling profitability audits, market basket analysis, and dynamic ranking.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15189" y="4475524"/>
            <a:ext cx="3336787" cy="1843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Custom DAX measures, decomposition trees, and Azure maps delivering executive-ready visualizations and drill-down capabilities.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844769" y="4780324"/>
            <a:ext cx="3336787" cy="153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Data-driven insights translated into actionable initiatives for marketing, operations, and product portfolio optimization.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37678" y="8063749"/>
            <a:ext cx="2762082" cy="1194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585"/>
              </a:lnSpc>
            </a:pPr>
            <a:r>
              <a:rPr lang="en-US" sz="4679" spc="-299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Project Overview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9081" y="7753829"/>
            <a:ext cx="7762895" cy="13470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660"/>
              </a:lnSpc>
            </a:pPr>
            <a:r>
              <a:rPr lang="en-US" sz="1900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End-to-end BI solution using US Superstore dataset: 9,994 transactional records over 4 years. Demonstrating advanced data engineering, SQL analytics, and interactive Power BI dashboards to optimize profitability.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12270" y="3090400"/>
            <a:ext cx="3438193" cy="82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  <a:spcBef>
                <a:spcPct val="0"/>
              </a:spcBef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STAR SCHEMA DATABASE ARCHITECTURE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938378" y="3090400"/>
            <a:ext cx="3438193" cy="82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  <a:spcBef>
                <a:spcPct val="0"/>
              </a:spcBef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ADVANCED SQL ANALYTICS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364486" y="3090400"/>
            <a:ext cx="3438193" cy="82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INTERACTIVE POWER BI DASHBOARDS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3794066" y="3090400"/>
            <a:ext cx="3438193" cy="825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STRATEGIC BUSINESS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46701" y="1192573"/>
            <a:ext cx="47625" cy="2040668"/>
            <a:chOff x="0" y="0"/>
            <a:chExt cx="12543" cy="5374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246701" y="4091471"/>
            <a:ext cx="7106119" cy="435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16"/>
              </a:lnSpc>
            </a:pPr>
            <a:r>
              <a:rPr lang="en-US" sz="2368" b="1" spc="-59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oppins Bold"/>
                <a:ea typeface="Poppins Bold"/>
                <a:cs typeface="Poppins Bold"/>
                <a:sym typeface="Poppins Bold"/>
              </a:rPr>
              <a:t>STAR SCHEMA DATABASE DESIGN IN SQL SERVER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6438046" y="129"/>
            <a:ext cx="1849954" cy="1848037"/>
            <a:chOff x="0" y="0"/>
            <a:chExt cx="2466605" cy="2464050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66605" cy="2464050"/>
              <a:chOff x="0" y="0"/>
              <a:chExt cx="787566" cy="7867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319164" y="694049"/>
              <a:ext cx="1828278" cy="1199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421"/>
                </a:lnSpc>
              </a:pPr>
              <a:r>
                <a:rPr lang="en-US" sz="6552" spc="-419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03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74766" y="844929"/>
            <a:ext cx="5780387" cy="271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32"/>
              </a:lnSpc>
            </a:pPr>
            <a:r>
              <a:rPr lang="en-US" sz="7176" spc="-459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Technical Architecture &amp; Data Model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46701" y="5787864"/>
            <a:ext cx="7325824" cy="854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76"/>
              </a:lnSpc>
            </a:pPr>
            <a:r>
              <a:rPr lang="en-US" sz="1625" spc="-4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Central Fact Table: FACT_Sales containing transactional measures including Sales, Profit, Quantity, and Discount metrics for comprehensive business analysis.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331679"/>
            <a:ext cx="5481943" cy="14255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76"/>
              </a:lnSpc>
            </a:pPr>
            <a:r>
              <a:rPr lang="en-US" sz="1625" spc="-4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DIM_Customers: Customer profiles &amp; segmentation</a:t>
            </a:r>
          </a:p>
          <a:p>
            <a:pPr marL="0" lvl="0" indent="0" algn="just">
              <a:lnSpc>
                <a:spcPts val="2276"/>
              </a:lnSpc>
            </a:pPr>
            <a:r>
              <a:rPr lang="en-US" sz="1625" spc="-4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DIM_Products: Categories and sub-categories</a:t>
            </a:r>
          </a:p>
          <a:p>
            <a:pPr marL="0" lvl="0" indent="0" algn="just">
              <a:lnSpc>
                <a:spcPts val="2276"/>
              </a:lnSpc>
            </a:pPr>
            <a:r>
              <a:rPr lang="en-US" sz="1625" spc="-4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DIM_Location: Geographic hierarchy data</a:t>
            </a:r>
          </a:p>
          <a:p>
            <a:pPr marL="0" lvl="0" indent="0" algn="just">
              <a:lnSpc>
                <a:spcPts val="2276"/>
              </a:lnSpc>
            </a:pPr>
            <a:r>
              <a:rPr lang="en-US" sz="1625" spc="-4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DIM_Shipping: Shipping modes &amp; logistics</a:t>
            </a:r>
          </a:p>
          <a:p>
            <a:pPr marL="0" lvl="0" indent="0" algn="just">
              <a:lnSpc>
                <a:spcPts val="2276"/>
              </a:lnSpc>
            </a:pPr>
            <a:r>
              <a:rPr lang="en-US" sz="1625" spc="-4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DIM_Order_Date &amp; DIM_Ship_Date: Time dimensions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5CD0261-BA4D-68B2-B5B6-3287BBF64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5400" y="1839563"/>
            <a:ext cx="9372600" cy="762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38046" y="140321"/>
            <a:ext cx="1849954" cy="1707845"/>
            <a:chOff x="0" y="0"/>
            <a:chExt cx="2466605" cy="2277127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466605" cy="2277127"/>
              <a:chOff x="0" y="0"/>
              <a:chExt cx="787566" cy="7270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87566" cy="727067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27067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27067"/>
                    </a:lnTo>
                    <a:lnTo>
                      <a:pt x="0" y="727067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787566" cy="7651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319164" y="684524"/>
              <a:ext cx="1828278" cy="10223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5513"/>
                </a:lnSpc>
              </a:pPr>
              <a:r>
                <a:rPr lang="en-US" sz="5625" spc="-360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545788" y="3120851"/>
            <a:ext cx="7196424" cy="321123"/>
            <a:chOff x="0" y="0"/>
            <a:chExt cx="9595232" cy="428164"/>
          </a:xfrm>
        </p:grpSpPr>
        <p:sp>
          <p:nvSpPr>
            <p:cNvPr id="8" name="TextBox 8"/>
            <p:cNvSpPr txBox="1"/>
            <p:nvPr/>
          </p:nvSpPr>
          <p:spPr>
            <a:xfrm>
              <a:off x="0" y="-30011"/>
              <a:ext cx="9378912" cy="4581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47"/>
                </a:lnSpc>
              </a:pPr>
              <a:r>
                <a:rPr lang="en-US" sz="2033" b="1" spc="-50" dirty="0">
                  <a:gradFill>
                    <a:gsLst>
                      <a:gs pos="0">
                        <a:srgbClr val="3A58E4">
                          <a:alpha val="100000"/>
                        </a:srgbClr>
                      </a:gs>
                      <a:gs pos="100000">
                        <a:srgbClr val="293E9C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DEMONSTRATING TECHNICAL DEPTH WITH SQL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463921" y="4926041"/>
            <a:ext cx="3746706" cy="3746706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gradFill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40108" tIns="40108" rIns="40108" bIns="40108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334452" y="4926041"/>
            <a:ext cx="3746706" cy="3746706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58E4">
                    <a:alpha val="100000"/>
                  </a:srgbClr>
                </a:gs>
                <a:gs pos="100000">
                  <a:srgbClr val="293E9C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40108" tIns="40108" rIns="40108" bIns="40108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205912" y="4926041"/>
            <a:ext cx="3746706" cy="374670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28575" cap="sq">
              <a:gradFill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40108" tIns="40108" rIns="40108" bIns="40108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3077373" y="4926041"/>
            <a:ext cx="3746706" cy="3746706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3E9C">
                    <a:alpha val="100000"/>
                  </a:srgbClr>
                </a:gs>
                <a:gs pos="100000">
                  <a:srgbClr val="3A58E4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40108" tIns="40108" rIns="40108" bIns="40108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2345222" y="5936558"/>
            <a:ext cx="1984104" cy="623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486"/>
              </a:lnSpc>
            </a:pPr>
            <a:r>
              <a:rPr lang="en-US" sz="1927" b="1" spc="-5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oppins Bold"/>
                <a:ea typeface="Poppins Bold"/>
                <a:cs typeface="Poppins Bold"/>
                <a:sym typeface="Poppins Bold"/>
              </a:rPr>
              <a:t>COMMON TABLE EXPRESSIONS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24549" y="6972977"/>
            <a:ext cx="2425450" cy="837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26"/>
              </a:lnSpc>
            </a:pPr>
            <a:r>
              <a:rPr lang="en-US" sz="1725" spc="-5" dirty="0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Modular, readable queries for complex business logic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15753" y="5936558"/>
            <a:ext cx="1984104" cy="623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486"/>
              </a:lnSpc>
            </a:pPr>
            <a:r>
              <a:rPr lang="en-US" sz="1927" b="1" spc="-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WINDOW FUNCTIONS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995080" y="6770805"/>
            <a:ext cx="2425450" cy="837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26"/>
              </a:lnSpc>
            </a:pPr>
            <a:r>
              <a:rPr lang="en-US" sz="1725" spc="-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ROW_NUMBER, RANK, PARTITION BY for dynamic rankings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901910" y="5936558"/>
            <a:ext cx="2354710" cy="623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486"/>
              </a:lnSpc>
            </a:pPr>
            <a:r>
              <a:rPr lang="en-US" sz="1927" b="1" spc="-5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oppins Bold"/>
                <a:ea typeface="Poppins Bold"/>
                <a:cs typeface="Poppins Bold"/>
                <a:sym typeface="Poppins Bold"/>
              </a:rPr>
              <a:t>SELF-JOINS ANALYSIS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66540" y="6770805"/>
            <a:ext cx="2425450" cy="837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26"/>
              </a:lnSpc>
            </a:pPr>
            <a:r>
              <a:rPr lang="en-US" sz="1725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Market Basket Analysis for co-purchased products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958674" y="5936558"/>
            <a:ext cx="1984104" cy="623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486"/>
              </a:lnSpc>
            </a:pPr>
            <a:r>
              <a:rPr lang="en-US" sz="1927" b="1" spc="-5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PROFITABILITY AUDITS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738001" y="6770805"/>
            <a:ext cx="2425450" cy="837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26"/>
              </a:lnSpc>
            </a:pPr>
            <a:r>
              <a:rPr lang="en-US" sz="1725" spc="-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Detecting loss-making customers and products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4176506" y="4926023"/>
            <a:ext cx="746986" cy="747004"/>
            <a:chOff x="0" y="0"/>
            <a:chExt cx="995981" cy="996005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95981" cy="996005"/>
              <a:chOff x="0" y="0"/>
              <a:chExt cx="812800" cy="81281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19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19">
                    <a:moveTo>
                      <a:pt x="406400" y="0"/>
                    </a:moveTo>
                    <a:cubicBezTo>
                      <a:pt x="181951" y="0"/>
                      <a:pt x="0" y="181956"/>
                      <a:pt x="0" y="406410"/>
                    </a:cubicBezTo>
                    <a:cubicBezTo>
                      <a:pt x="0" y="630864"/>
                      <a:pt x="181951" y="812819"/>
                      <a:pt x="406400" y="812819"/>
                    </a:cubicBezTo>
                    <a:cubicBezTo>
                      <a:pt x="630849" y="812819"/>
                      <a:pt x="812800" y="630864"/>
                      <a:pt x="812800" y="406410"/>
                    </a:cubicBezTo>
                    <a:cubicBezTo>
                      <a:pt x="812800" y="181956"/>
                      <a:pt x="630849" y="0"/>
                      <a:pt x="4064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38102"/>
                <a:ext cx="660400" cy="6985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75623" y="235561"/>
              <a:ext cx="644736" cy="4867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0"/>
                </a:lnSpc>
              </a:pPr>
              <a:r>
                <a:rPr lang="en-US" sz="2225" spc="-6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8047037" y="4926023"/>
            <a:ext cx="746986" cy="747004"/>
            <a:chOff x="0" y="0"/>
            <a:chExt cx="995981" cy="996005"/>
          </a:xfrm>
        </p:grpSpPr>
        <p:grpSp>
          <p:nvGrpSpPr>
            <p:cNvPr id="35" name="Group 35"/>
            <p:cNvGrpSpPr/>
            <p:nvPr/>
          </p:nvGrpSpPr>
          <p:grpSpPr>
            <a:xfrm>
              <a:off x="0" y="0"/>
              <a:ext cx="995981" cy="996005"/>
              <a:chOff x="0" y="0"/>
              <a:chExt cx="812800" cy="812819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812800" cy="812819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19">
                    <a:moveTo>
                      <a:pt x="406400" y="0"/>
                    </a:moveTo>
                    <a:cubicBezTo>
                      <a:pt x="181951" y="0"/>
                      <a:pt x="0" y="181956"/>
                      <a:pt x="0" y="406410"/>
                    </a:cubicBezTo>
                    <a:cubicBezTo>
                      <a:pt x="0" y="630864"/>
                      <a:pt x="181951" y="812819"/>
                      <a:pt x="406400" y="812819"/>
                    </a:cubicBezTo>
                    <a:cubicBezTo>
                      <a:pt x="630849" y="812819"/>
                      <a:pt x="812800" y="630864"/>
                      <a:pt x="812800" y="406410"/>
                    </a:cubicBezTo>
                    <a:cubicBezTo>
                      <a:pt x="812800" y="181956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sq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6200" y="38102"/>
                <a:ext cx="660400" cy="6985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175623" y="235561"/>
              <a:ext cx="644736" cy="4867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0"/>
                </a:lnSpc>
              </a:pPr>
              <a:r>
                <a:rPr lang="en-US" sz="2225" spc="-6">
                  <a:gradFill>
                    <a:gsLst>
                      <a:gs pos="0">
                        <a:srgbClr val="293E9C">
                          <a:alpha val="100000"/>
                        </a:srgbClr>
                      </a:gs>
                      <a:gs pos="100000">
                        <a:srgbClr val="3A58E4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"/>
                  <a:ea typeface="Poppins"/>
                  <a:cs typeface="Poppins"/>
                  <a:sym typeface="Poppins"/>
                </a:rPr>
                <a:t>02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1919608" y="4926023"/>
            <a:ext cx="746986" cy="747004"/>
            <a:chOff x="0" y="0"/>
            <a:chExt cx="995981" cy="996005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995981" cy="996005"/>
              <a:chOff x="0" y="0"/>
              <a:chExt cx="812800" cy="812819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812800" cy="812819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19">
                    <a:moveTo>
                      <a:pt x="406400" y="0"/>
                    </a:moveTo>
                    <a:cubicBezTo>
                      <a:pt x="181951" y="0"/>
                      <a:pt x="0" y="181956"/>
                      <a:pt x="0" y="406410"/>
                    </a:cubicBezTo>
                    <a:cubicBezTo>
                      <a:pt x="0" y="630864"/>
                      <a:pt x="181951" y="812819"/>
                      <a:pt x="406400" y="812819"/>
                    </a:cubicBezTo>
                    <a:cubicBezTo>
                      <a:pt x="630849" y="812819"/>
                      <a:pt x="812800" y="630864"/>
                      <a:pt x="812800" y="406410"/>
                    </a:cubicBezTo>
                    <a:cubicBezTo>
                      <a:pt x="812800" y="181956"/>
                      <a:pt x="630849" y="0"/>
                      <a:pt x="4064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6200" y="38102"/>
                <a:ext cx="660400" cy="6985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3" name="TextBox 43"/>
            <p:cNvSpPr txBox="1"/>
            <p:nvPr/>
          </p:nvSpPr>
          <p:spPr>
            <a:xfrm>
              <a:off x="175623" y="235561"/>
              <a:ext cx="644736" cy="4867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0"/>
                </a:lnSpc>
              </a:pPr>
              <a:r>
                <a:rPr lang="en-US" sz="2225" spc="-6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03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5791068" y="4926023"/>
            <a:ext cx="746986" cy="747004"/>
            <a:chOff x="0" y="0"/>
            <a:chExt cx="995981" cy="996005"/>
          </a:xfrm>
        </p:grpSpPr>
        <p:grpSp>
          <p:nvGrpSpPr>
            <p:cNvPr id="45" name="Group 45"/>
            <p:cNvGrpSpPr/>
            <p:nvPr/>
          </p:nvGrpSpPr>
          <p:grpSpPr>
            <a:xfrm>
              <a:off x="0" y="0"/>
              <a:ext cx="995981" cy="996005"/>
              <a:chOff x="0" y="0"/>
              <a:chExt cx="812800" cy="812819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812800" cy="812819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19">
                    <a:moveTo>
                      <a:pt x="406400" y="0"/>
                    </a:moveTo>
                    <a:cubicBezTo>
                      <a:pt x="181951" y="0"/>
                      <a:pt x="0" y="181956"/>
                      <a:pt x="0" y="406410"/>
                    </a:cubicBezTo>
                    <a:cubicBezTo>
                      <a:pt x="0" y="630864"/>
                      <a:pt x="181951" y="812819"/>
                      <a:pt x="406400" y="812819"/>
                    </a:cubicBezTo>
                    <a:cubicBezTo>
                      <a:pt x="630849" y="812819"/>
                      <a:pt x="812800" y="630864"/>
                      <a:pt x="812800" y="406410"/>
                    </a:cubicBezTo>
                    <a:cubicBezTo>
                      <a:pt x="812800" y="181956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sq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76200" y="38102"/>
                <a:ext cx="660400" cy="69851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175623" y="235561"/>
              <a:ext cx="644736" cy="4867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870"/>
                </a:lnSpc>
              </a:pPr>
              <a:r>
                <a:rPr lang="en-US" sz="2225" spc="-6">
                  <a:gradFill>
                    <a:gsLst>
                      <a:gs pos="0">
                        <a:srgbClr val="293E9C">
                          <a:alpha val="100000"/>
                        </a:srgbClr>
                      </a:gs>
                      <a:gs pos="100000">
                        <a:srgbClr val="3A58E4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"/>
                  <a:ea typeface="Poppins"/>
                  <a:cs typeface="Poppins"/>
                  <a:sym typeface="Poppins"/>
                </a:rPr>
                <a:t>04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3200400" y="780710"/>
            <a:ext cx="11560683" cy="1219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043"/>
              </a:lnSpc>
            </a:pPr>
            <a:r>
              <a:rPr lang="en-US" sz="9228" spc="-590" dirty="0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Advanced SQL Analytics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28142" y="1358088"/>
            <a:ext cx="47625" cy="2040668"/>
            <a:chOff x="0" y="0"/>
            <a:chExt cx="12543" cy="5374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828142" y="4449725"/>
            <a:ext cx="9021242" cy="379246"/>
            <a:chOff x="0" y="0"/>
            <a:chExt cx="12028323" cy="505662"/>
          </a:xfrm>
        </p:grpSpPr>
        <p:sp>
          <p:nvSpPr>
            <p:cNvPr id="6" name="TextBox 6"/>
            <p:cNvSpPr txBox="1"/>
            <p:nvPr/>
          </p:nvSpPr>
          <p:spPr>
            <a:xfrm>
              <a:off x="0" y="-49117"/>
              <a:ext cx="11773903" cy="5547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16"/>
                </a:lnSpc>
              </a:pPr>
              <a:r>
                <a:rPr lang="en-US" sz="2368" b="1" spc="-59">
                  <a:gradFill>
                    <a:gsLst>
                      <a:gs pos="0">
                        <a:srgbClr val="3A58E4">
                          <a:alpha val="100000"/>
                        </a:srgbClr>
                      </a:gs>
                      <a:gs pos="100000">
                        <a:srgbClr val="293E9C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BUSINESS PERFORMANCE SNAPSHOT</a:t>
              </a:r>
            </a:p>
          </p:txBody>
        </p:sp>
        <p:sp>
          <p:nvSpPr>
            <p:cNvPr id="7" name="Freeform 7"/>
            <p:cNvSpPr/>
            <p:nvPr/>
          </p:nvSpPr>
          <p:spPr>
            <a:xfrm rot="-8687136">
              <a:off x="11711303" y="44820"/>
              <a:ext cx="252200" cy="304858"/>
            </a:xfrm>
            <a:custGeom>
              <a:avLst/>
              <a:gdLst/>
              <a:ahLst/>
              <a:cxnLst/>
              <a:rect l="l" t="t" r="r" b="b"/>
              <a:pathLst>
                <a:path w="252200" h="304858">
                  <a:moveTo>
                    <a:pt x="0" y="0"/>
                  </a:moveTo>
                  <a:lnTo>
                    <a:pt x="252200" y="0"/>
                  </a:lnTo>
                  <a:lnTo>
                    <a:pt x="252200" y="304857"/>
                  </a:lnTo>
                  <a:lnTo>
                    <a:pt x="0" y="3048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38046" y="129"/>
            <a:ext cx="1849954" cy="1848037"/>
            <a:chOff x="0" y="0"/>
            <a:chExt cx="2466605" cy="246405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66605" cy="2464050"/>
              <a:chOff x="0" y="0"/>
              <a:chExt cx="787566" cy="7867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319164" y="694049"/>
              <a:ext cx="1828278" cy="1199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421"/>
                </a:lnSpc>
              </a:pPr>
              <a:r>
                <a:rPr lang="en-US" sz="6552" spc="-419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05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 flipH="1">
            <a:off x="6542795" y="0"/>
            <a:ext cx="0" cy="1028700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0" y="5320770"/>
            <a:ext cx="6542795" cy="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8056208" y="1735917"/>
            <a:ext cx="7107541" cy="1992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635"/>
              </a:lnSpc>
            </a:pPr>
            <a:r>
              <a:rPr lang="en-US" sz="7791" spc="-498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Key Performance</a:t>
            </a:r>
          </a:p>
          <a:p>
            <a:pPr marL="0" lvl="0" indent="0" algn="l">
              <a:lnSpc>
                <a:spcPts val="7635"/>
              </a:lnSpc>
            </a:pPr>
            <a:r>
              <a:rPr lang="en-US" sz="7791" spc="-498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Indicators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28142" y="6322077"/>
            <a:ext cx="9021242" cy="274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07"/>
              </a:lnSpc>
            </a:pPr>
            <a:r>
              <a:rPr lang="en-US" sz="2219" spc="-6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With $2.3 million in total sales and a profit margin of 12.47%, the Superstore dataset represents a healthy retail operation. Nearly 800 customers generated 5,000 orders across 38,000 units sold, averaging $2,900 per customer. This strong customer value indicates effective pricing strategies and customer engagement, providing a solid foundation for strategic growth initiatives.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36067" y="8665227"/>
            <a:ext cx="3088700" cy="400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07"/>
              </a:lnSpc>
            </a:pPr>
            <a:r>
              <a:rPr lang="en-US" sz="2219" spc="-6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Profit Margin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2135" y="5655327"/>
            <a:ext cx="5116565" cy="2040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698"/>
              </a:lnSpc>
              <a:spcBef>
                <a:spcPct val="0"/>
              </a:spcBef>
            </a:pPr>
            <a:r>
              <a:rPr lang="en-US" sz="11927" spc="-763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12.47%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CD64635-5BF9-DA7A-BDC3-9878D6D15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"/>
            <a:ext cx="6553846" cy="53207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525863"/>
            <a:ext cx="47625" cy="2040668"/>
            <a:chOff x="0" y="0"/>
            <a:chExt cx="12543" cy="5374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4611022"/>
            <a:ext cx="7514069" cy="435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316"/>
              </a:lnSpc>
            </a:pPr>
            <a:r>
              <a:rPr lang="en-US" sz="2368" b="1" spc="-59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Poppins Bold"/>
                <a:ea typeface="Poppins Bold"/>
                <a:cs typeface="Poppins Bold"/>
                <a:sym typeface="Poppins Bold"/>
              </a:rPr>
              <a:t>EXECUTIVE SUMMARY DASHBOARD INSIGHTS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6692815" y="129"/>
            <a:ext cx="1849954" cy="1848037"/>
            <a:chOff x="0" y="0"/>
            <a:chExt cx="2466605" cy="2464050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466605" cy="2464050"/>
              <a:chOff x="0" y="0"/>
              <a:chExt cx="787566" cy="7867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319164" y="694049"/>
              <a:ext cx="1828278" cy="1199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421"/>
                </a:lnSpc>
              </a:pPr>
              <a:r>
                <a:rPr lang="en-US" sz="6552" spc="-419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06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256766" y="1374569"/>
            <a:ext cx="5780387" cy="2521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80"/>
              </a:lnSpc>
            </a:pPr>
            <a:r>
              <a:rPr lang="en-US" sz="6714" spc="-429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Business Overview Dashboard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5741441"/>
            <a:ext cx="7514069" cy="313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05"/>
              </a:lnSpc>
            </a:pPr>
            <a:r>
              <a:rPr lang="en-US" sz="2218" spc="-6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This executive dashboard reveals key business patterns: Monthly sales and profit trends show clear Q4 seasonality with holiday peaks. Geographic analysis highlights West region leadership in revenue. The decomposition tree enables flexible drill-down from Segment to Category to Sub-category to Region. Sales distribution shows Office Supplies, Technology, and Furniture category breakdown.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04370" y="6340300"/>
            <a:ext cx="1582493" cy="516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76"/>
              </a:lnSpc>
            </a:pPr>
            <a:r>
              <a:rPr lang="en-US" sz="3915" b="1" spc="-117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Q4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056286" y="7109445"/>
            <a:ext cx="1278661" cy="550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14"/>
              </a:lnSpc>
            </a:pPr>
            <a:r>
              <a:rPr lang="en-US" sz="1581" spc="-3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PEAK SALES SEASONALITY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DBAD3BC-1D7D-464E-B70E-AA3F03909D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1848167"/>
            <a:ext cx="9068128" cy="70278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6938179" cy="10287000"/>
            <a:chOff x="0" y="0"/>
            <a:chExt cx="1827339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7339" cy="2709333"/>
            </a:xfrm>
            <a:custGeom>
              <a:avLst/>
              <a:gdLst/>
              <a:ahLst/>
              <a:cxnLst/>
              <a:rect l="l" t="t" r="r" b="b"/>
              <a:pathLst>
                <a:path w="1827339" h="2709333">
                  <a:moveTo>
                    <a:pt x="0" y="0"/>
                  </a:moveTo>
                  <a:lnTo>
                    <a:pt x="1827339" y="0"/>
                  </a:lnTo>
                  <a:lnTo>
                    <a:pt x="1827339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3A58E4">
                    <a:alpha val="100000"/>
                  </a:srgbClr>
                </a:gs>
                <a:gs pos="100000">
                  <a:srgbClr val="293E9C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827339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343219" y="4032536"/>
            <a:ext cx="3189919" cy="620584"/>
          </a:xfrm>
          <a:custGeom>
            <a:avLst/>
            <a:gdLst/>
            <a:ahLst/>
            <a:cxnLst/>
            <a:rect l="l" t="t" r="r" b="b"/>
            <a:pathLst>
              <a:path w="3189919" h="620584">
                <a:moveTo>
                  <a:pt x="0" y="0"/>
                </a:moveTo>
                <a:lnTo>
                  <a:pt x="3189919" y="0"/>
                </a:lnTo>
                <a:lnTo>
                  <a:pt x="3189919" y="620584"/>
                </a:lnTo>
                <a:lnTo>
                  <a:pt x="0" y="6205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5459316" y="1438329"/>
            <a:ext cx="2920486" cy="2916826"/>
            <a:chOff x="0" y="0"/>
            <a:chExt cx="567580" cy="5668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67580" cy="566868"/>
            </a:xfrm>
            <a:custGeom>
              <a:avLst/>
              <a:gdLst/>
              <a:ahLst/>
              <a:cxnLst/>
              <a:rect l="l" t="t" r="r" b="b"/>
              <a:pathLst>
                <a:path w="567580" h="566868">
                  <a:moveTo>
                    <a:pt x="119291" y="0"/>
                  </a:moveTo>
                  <a:lnTo>
                    <a:pt x="448289" y="0"/>
                  </a:lnTo>
                  <a:cubicBezTo>
                    <a:pt x="514171" y="0"/>
                    <a:pt x="567580" y="53408"/>
                    <a:pt x="567580" y="119291"/>
                  </a:cubicBezTo>
                  <a:lnTo>
                    <a:pt x="567580" y="447578"/>
                  </a:lnTo>
                  <a:cubicBezTo>
                    <a:pt x="567580" y="479216"/>
                    <a:pt x="555012" y="509558"/>
                    <a:pt x="532640" y="531929"/>
                  </a:cubicBezTo>
                  <a:cubicBezTo>
                    <a:pt x="510269" y="554300"/>
                    <a:pt x="479927" y="566868"/>
                    <a:pt x="448289" y="566868"/>
                  </a:cubicBezTo>
                  <a:lnTo>
                    <a:pt x="119291" y="566868"/>
                  </a:lnTo>
                  <a:cubicBezTo>
                    <a:pt x="87653" y="566868"/>
                    <a:pt x="57311" y="554300"/>
                    <a:pt x="34939" y="531929"/>
                  </a:cubicBezTo>
                  <a:cubicBezTo>
                    <a:pt x="12568" y="509558"/>
                    <a:pt x="0" y="479216"/>
                    <a:pt x="0" y="447578"/>
                  </a:cubicBezTo>
                  <a:lnTo>
                    <a:pt x="0" y="119291"/>
                  </a:lnTo>
                  <a:cubicBezTo>
                    <a:pt x="0" y="53408"/>
                    <a:pt x="53408" y="0"/>
                    <a:pt x="11929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3E9C">
                    <a:alpha val="100000"/>
                  </a:srgbClr>
                </a:gs>
                <a:gs pos="100000">
                  <a:srgbClr val="3A58E4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8575"/>
              <a:ext cx="567580" cy="538293"/>
            </a:xfrm>
            <a:prstGeom prst="rect">
              <a:avLst/>
            </a:prstGeom>
          </p:spPr>
          <p:txBody>
            <a:bodyPr lIns="65745" tIns="65745" rIns="65745" bIns="65745" rtlCol="0" anchor="ctr"/>
            <a:lstStyle/>
            <a:p>
              <a:pPr marL="0" lvl="0" indent="0" algn="ctr">
                <a:lnSpc>
                  <a:spcPts val="246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708475" y="2199673"/>
            <a:ext cx="2459408" cy="8075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024"/>
              </a:lnSpc>
            </a:pPr>
            <a:r>
              <a:rPr lang="en-US" sz="6085" b="1" spc="-182">
                <a:solidFill>
                  <a:srgbClr val="FFFFFF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53%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0959" y="3004609"/>
            <a:ext cx="1957200" cy="703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7"/>
              </a:lnSpc>
            </a:pPr>
            <a:r>
              <a:rPr lang="en-US" sz="2034" spc="-5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OFFICE SUPPLIES VOLUME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62431" y="4006332"/>
            <a:ext cx="878239" cy="1092920"/>
          </a:xfrm>
          <a:custGeom>
            <a:avLst/>
            <a:gdLst/>
            <a:ahLst/>
            <a:cxnLst/>
            <a:rect l="l" t="t" r="r" b="b"/>
            <a:pathLst>
              <a:path w="878239" h="1092920">
                <a:moveTo>
                  <a:pt x="0" y="0"/>
                </a:moveTo>
                <a:lnTo>
                  <a:pt x="878240" y="0"/>
                </a:lnTo>
                <a:lnTo>
                  <a:pt x="878240" y="1092919"/>
                </a:lnTo>
                <a:lnTo>
                  <a:pt x="0" y="1092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1028700" y="5490173"/>
            <a:ext cx="4378886" cy="52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593"/>
              </a:lnSpc>
            </a:pPr>
            <a:r>
              <a:rPr lang="en-US" sz="212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PREPARATION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6058910"/>
            <a:ext cx="4378886" cy="583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07"/>
              </a:lnSpc>
            </a:pPr>
            <a:r>
              <a:rPr lang="en-US" sz="180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Office Supplies leads in order volume but contributes lower revenue share.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28700" y="7006271"/>
            <a:ext cx="4378886" cy="942439"/>
            <a:chOff x="0" y="0"/>
            <a:chExt cx="5838515" cy="1256586"/>
          </a:xfrm>
        </p:grpSpPr>
        <p:sp>
          <p:nvSpPr>
            <p:cNvPr id="15" name="TextBox 15"/>
            <p:cNvSpPr txBox="1"/>
            <p:nvPr/>
          </p:nvSpPr>
          <p:spPr>
            <a:xfrm>
              <a:off x="0" y="-209550"/>
              <a:ext cx="5838515" cy="6315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593"/>
                </a:lnSpc>
              </a:pPr>
              <a:r>
                <a:rPr lang="en-US" sz="2126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VOLUME VS VALUE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488445"/>
              <a:ext cx="5838515" cy="7681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207"/>
                </a:lnSpc>
              </a:pPr>
              <a:r>
                <a:rPr lang="en-US" sz="1809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Technology at 21.9% volume drives 36.4% of total revenue.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28700" y="8315861"/>
            <a:ext cx="4378886" cy="942439"/>
            <a:chOff x="0" y="0"/>
            <a:chExt cx="5838515" cy="1256586"/>
          </a:xfrm>
        </p:grpSpPr>
        <p:sp>
          <p:nvSpPr>
            <p:cNvPr id="18" name="TextBox 18"/>
            <p:cNvSpPr txBox="1"/>
            <p:nvPr/>
          </p:nvSpPr>
          <p:spPr>
            <a:xfrm>
              <a:off x="0" y="-209550"/>
              <a:ext cx="5838515" cy="6315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593"/>
                </a:lnSpc>
              </a:pPr>
              <a:r>
                <a:rPr lang="en-US" sz="2126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HERO PRODUCT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488445"/>
              <a:ext cx="5838515" cy="7681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207"/>
                </a:lnSpc>
              </a:pPr>
              <a:r>
                <a:rPr lang="en-US" sz="1809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Canon imageCLASS 2200 Copier: $61.6K sales, $25.2K profit.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345491" y="1359658"/>
            <a:ext cx="7522404" cy="7567644"/>
            <a:chOff x="0" y="0"/>
            <a:chExt cx="10029872" cy="10090192"/>
          </a:xfrm>
        </p:grpSpPr>
        <p:sp>
          <p:nvSpPr>
            <p:cNvPr id="21" name="TextBox 21"/>
            <p:cNvSpPr txBox="1"/>
            <p:nvPr/>
          </p:nvSpPr>
          <p:spPr>
            <a:xfrm>
              <a:off x="1033544" y="-66675"/>
              <a:ext cx="7126880" cy="5233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3171"/>
                </a:lnSpc>
              </a:pPr>
              <a:r>
                <a:rPr lang="en-US" sz="2265" b="1" spc="-56">
                  <a:gradFill>
                    <a:gsLst>
                      <a:gs pos="0">
                        <a:srgbClr val="293E9C">
                          <a:alpha val="100000"/>
                        </a:srgbClr>
                      </a:gs>
                      <a:gs pos="100000">
                        <a:srgbClr val="3A58E4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VOLUME VS VALUE PARADOX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3544" y="605436"/>
              <a:ext cx="8996329" cy="24001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92"/>
                </a:lnSpc>
              </a:pPr>
              <a:r>
                <a:rPr lang="en-US" sz="2065" spc="-51">
                  <a:solidFill>
                    <a:srgbClr val="3A58E4"/>
                  </a:solidFill>
                  <a:latin typeface="Poppins"/>
                  <a:ea typeface="Poppins"/>
                  <a:cs typeface="Poppins"/>
                  <a:sym typeface="Poppins"/>
                </a:rPr>
                <a:t>Office Supplies dominates order volume at 53.08%, yet Technology captures the highest revenue share at 36.4% despite only 21.9% of orders. This paradox reveals where true profitability lies and informs strategic marketing decisions.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33544" y="3475610"/>
              <a:ext cx="7126880" cy="5233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3171"/>
                </a:lnSpc>
              </a:pPr>
              <a:r>
                <a:rPr lang="en-US" sz="2265" b="1" spc="-56">
                  <a:gradFill>
                    <a:gsLst>
                      <a:gs pos="0">
                        <a:srgbClr val="293E9C">
                          <a:alpha val="100000"/>
                        </a:srgbClr>
                      </a:gs>
                      <a:gs pos="100000">
                        <a:srgbClr val="3A58E4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TOP PERFORMING PRODUCTS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33544" y="4630320"/>
              <a:ext cx="8996329" cy="1917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92"/>
                </a:lnSpc>
              </a:pPr>
              <a:r>
                <a:rPr lang="en-US" sz="2065" spc="-51">
                  <a:solidFill>
                    <a:srgbClr val="3A58E4"/>
                  </a:solidFill>
                  <a:latin typeface="Poppins"/>
                  <a:ea typeface="Poppins"/>
                  <a:cs typeface="Poppins"/>
                  <a:sym typeface="Poppins"/>
                </a:rPr>
                <a:t>Canon imageCLASS 2200 Copier leads with $61.6K in sales and $25.2K profit. Fellowes PB500 Electric Punch follows with $27.5K sales. Cisco TelePresence System shows $22.6K sales but a -$1.8K loss requiring audit.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3544" y="7017894"/>
              <a:ext cx="7126880" cy="5233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3171"/>
                </a:lnSpc>
              </a:pPr>
              <a:r>
                <a:rPr lang="en-US" sz="2265" b="1" spc="-56">
                  <a:gradFill>
                    <a:gsLst>
                      <a:gs pos="0">
                        <a:srgbClr val="293E9C">
                          <a:alpha val="100000"/>
                        </a:srgbClr>
                      </a:gs>
                      <a:gs pos="100000">
                        <a:srgbClr val="3A58E4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STRATEGIC RECOMMENDATION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3544" y="7690005"/>
              <a:ext cx="8996329" cy="24001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92"/>
                </a:lnSpc>
              </a:pPr>
              <a:r>
                <a:rPr lang="en-US" sz="2065" spc="-51">
                  <a:solidFill>
                    <a:srgbClr val="3A58E4"/>
                  </a:solidFill>
                  <a:latin typeface="Poppins"/>
                  <a:ea typeface="Poppins"/>
                  <a:cs typeface="Poppins"/>
                  <a:sym typeface="Poppins"/>
                </a:rPr>
                <a:t>Shift marketing investment toward high-margin Technology bundles and hero products. Conduct profitability audits on loss-making items like Cisco TelePresence to determine pricing adjustments or discontinuation.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1355403"/>
              <a:ext cx="643052" cy="332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843"/>
                </a:lnSpc>
              </a:pPr>
              <a:r>
                <a:rPr lang="en-US" sz="1862" spc="-55">
                  <a:solidFill>
                    <a:srgbClr val="3A58E4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4897687"/>
              <a:ext cx="643052" cy="332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843"/>
                </a:lnSpc>
              </a:pPr>
              <a:r>
                <a:rPr lang="en-US" sz="1862" spc="-55">
                  <a:solidFill>
                    <a:srgbClr val="3A58E4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8439972"/>
              <a:ext cx="643052" cy="332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843"/>
                </a:lnSpc>
              </a:pPr>
              <a:r>
                <a:rPr lang="en-US" sz="1862" spc="-55">
                  <a:solidFill>
                    <a:srgbClr val="3A58E4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03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28700" y="1196251"/>
            <a:ext cx="24226" cy="1038034"/>
            <a:chOff x="0" y="0"/>
            <a:chExt cx="12543" cy="53746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144711" y="1370873"/>
            <a:ext cx="2753109" cy="1030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20"/>
              </a:lnSpc>
            </a:pPr>
            <a:r>
              <a:rPr lang="en-US" sz="4000" spc="-256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Product Performance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28142" y="1358088"/>
            <a:ext cx="47625" cy="2040668"/>
            <a:chOff x="0" y="0"/>
            <a:chExt cx="12543" cy="5374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828142" y="4449725"/>
            <a:ext cx="9021242" cy="379246"/>
            <a:chOff x="0" y="0"/>
            <a:chExt cx="12028323" cy="505662"/>
          </a:xfrm>
        </p:grpSpPr>
        <p:sp>
          <p:nvSpPr>
            <p:cNvPr id="6" name="TextBox 6"/>
            <p:cNvSpPr txBox="1"/>
            <p:nvPr/>
          </p:nvSpPr>
          <p:spPr>
            <a:xfrm>
              <a:off x="0" y="78630"/>
              <a:ext cx="11773903" cy="4270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690"/>
                </a:lnSpc>
              </a:pPr>
              <a:r>
                <a:rPr lang="en-US" sz="1922" b="1" spc="-48">
                  <a:gradFill>
                    <a:gsLst>
                      <a:gs pos="0">
                        <a:srgbClr val="3A58E4">
                          <a:alpha val="100000"/>
                        </a:srgbClr>
                      </a:gs>
                      <a:gs pos="100000">
                        <a:srgbClr val="293E9C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UNDERSTANDING CUSTOMER PROFILES AND REGIONAL SALES PERFORMANCE</a:t>
              </a:r>
            </a:p>
          </p:txBody>
        </p:sp>
        <p:sp>
          <p:nvSpPr>
            <p:cNvPr id="7" name="Freeform 7"/>
            <p:cNvSpPr/>
            <p:nvPr/>
          </p:nvSpPr>
          <p:spPr>
            <a:xfrm rot="-8687136">
              <a:off x="11711303" y="44820"/>
              <a:ext cx="252200" cy="304858"/>
            </a:xfrm>
            <a:custGeom>
              <a:avLst/>
              <a:gdLst/>
              <a:ahLst/>
              <a:cxnLst/>
              <a:rect l="l" t="t" r="r" b="b"/>
              <a:pathLst>
                <a:path w="252200" h="304858">
                  <a:moveTo>
                    <a:pt x="0" y="0"/>
                  </a:moveTo>
                  <a:lnTo>
                    <a:pt x="252200" y="0"/>
                  </a:lnTo>
                  <a:lnTo>
                    <a:pt x="252200" y="304857"/>
                  </a:lnTo>
                  <a:lnTo>
                    <a:pt x="0" y="3048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38046" y="187052"/>
            <a:ext cx="1849954" cy="1661115"/>
            <a:chOff x="0" y="0"/>
            <a:chExt cx="2466605" cy="221482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66605" cy="2214820"/>
              <a:chOff x="0" y="0"/>
              <a:chExt cx="787566" cy="70717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787566" cy="707173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07173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07173"/>
                    </a:lnTo>
                    <a:lnTo>
                      <a:pt x="0" y="70717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787566" cy="74527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319164" y="674999"/>
              <a:ext cx="1828278" cy="9695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5210"/>
                </a:lnSpc>
              </a:pPr>
              <a:r>
                <a:rPr lang="en-US" sz="5316" spc="-340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08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 flipH="1">
            <a:off x="6542795" y="0"/>
            <a:ext cx="0" cy="1028700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0" y="5320770"/>
            <a:ext cx="6542795" cy="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8056208" y="1690850"/>
            <a:ext cx="7107541" cy="2037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86"/>
              </a:lnSpc>
            </a:pPr>
            <a:r>
              <a:rPr lang="en-US" sz="7945" spc="-508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Customer</a:t>
            </a:r>
          </a:p>
          <a:p>
            <a:pPr marL="0" lvl="0" indent="0" algn="l">
              <a:lnSpc>
                <a:spcPts val="7786"/>
              </a:lnSpc>
            </a:pPr>
            <a:r>
              <a:rPr lang="en-US" sz="7945" spc="-508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Insights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28142" y="7168662"/>
            <a:ext cx="9021242" cy="1897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520"/>
              </a:lnSpc>
            </a:pPr>
            <a:r>
              <a:rPr lang="en-US" sz="1800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Customer segmentation reveals Consumer dominance at 52% (409 customers), followed by Corporate at 30% and Home Office at 19%. Regional analysis shows West leading with $725.46K in sales, while South lags at $391.72K, indicating growth opportunities. Top performers include Sean Miller, Tamara Chand, and Raymond Buch, representing key accounts for targeted retention programs and VIP engagement strategies.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36067" y="8425962"/>
            <a:ext cx="308870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20"/>
              </a:lnSpc>
            </a:pPr>
            <a:r>
              <a:rPr lang="en-US" sz="1800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Consumer segment share of customer base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2135" y="5645802"/>
            <a:ext cx="5116565" cy="2091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028"/>
              </a:lnSpc>
              <a:spcBef>
                <a:spcPct val="0"/>
              </a:spcBef>
            </a:pPr>
            <a:r>
              <a:rPr lang="en-US" sz="12162" spc="-778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52%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56DCD99-8E98-CC07-FB22-1C2733854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0460"/>
            <a:ext cx="6542794" cy="53103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6766" y="1206794"/>
            <a:ext cx="5217559" cy="2521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80"/>
              </a:lnSpc>
            </a:pPr>
            <a:r>
              <a:rPr lang="en-US" sz="6714" spc="-429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Key Business Insights Summary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28700" y="1358088"/>
            <a:ext cx="47625" cy="2040668"/>
            <a:chOff x="0" y="0"/>
            <a:chExt cx="12543" cy="53746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4312874"/>
            <a:ext cx="8172450" cy="379246"/>
            <a:chOff x="0" y="0"/>
            <a:chExt cx="10896600" cy="505662"/>
          </a:xfrm>
        </p:grpSpPr>
        <p:sp>
          <p:nvSpPr>
            <p:cNvPr id="7" name="TextBox 7"/>
            <p:cNvSpPr txBox="1"/>
            <p:nvPr/>
          </p:nvSpPr>
          <p:spPr>
            <a:xfrm>
              <a:off x="0" y="-49117"/>
              <a:ext cx="10820400" cy="5547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16"/>
                </a:lnSpc>
              </a:pPr>
              <a:r>
                <a:rPr lang="en-US" sz="2368" b="1" spc="-59">
                  <a:gradFill>
                    <a:gsLst>
                      <a:gs pos="0">
                        <a:srgbClr val="3A58E4">
                          <a:alpha val="100000"/>
                        </a:srgbClr>
                      </a:gs>
                      <a:gs pos="100000">
                        <a:srgbClr val="293E9C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CRITICAL STRATEGIC DISCOVERIES</a:t>
              </a:r>
            </a:p>
          </p:txBody>
        </p:sp>
        <p:sp>
          <p:nvSpPr>
            <p:cNvPr id="8" name="Freeform 8"/>
            <p:cNvSpPr/>
            <p:nvPr/>
          </p:nvSpPr>
          <p:spPr>
            <a:xfrm rot="-8687136">
              <a:off x="10579580" y="44820"/>
              <a:ext cx="252200" cy="304858"/>
            </a:xfrm>
            <a:custGeom>
              <a:avLst/>
              <a:gdLst/>
              <a:ahLst/>
              <a:cxnLst/>
              <a:rect l="l" t="t" r="r" b="b"/>
              <a:pathLst>
                <a:path w="252200" h="304858">
                  <a:moveTo>
                    <a:pt x="0" y="0"/>
                  </a:moveTo>
                  <a:lnTo>
                    <a:pt x="252200" y="0"/>
                  </a:lnTo>
                  <a:lnTo>
                    <a:pt x="252200" y="304857"/>
                  </a:lnTo>
                  <a:lnTo>
                    <a:pt x="0" y="3048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438046" y="129"/>
            <a:ext cx="1849954" cy="1848037"/>
            <a:chOff x="0" y="0"/>
            <a:chExt cx="2466605" cy="2464050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2466605" cy="2464050"/>
              <a:chOff x="0" y="0"/>
              <a:chExt cx="787566" cy="7867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19164" y="694049"/>
              <a:ext cx="1828278" cy="1199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421"/>
                </a:lnSpc>
              </a:pPr>
              <a:r>
                <a:rPr lang="en-US" sz="6552" spc="-419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09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9467526" y="2844084"/>
            <a:ext cx="7975082" cy="7549882"/>
          </a:xfrm>
          <a:custGeom>
            <a:avLst/>
            <a:gdLst/>
            <a:ahLst/>
            <a:cxnLst/>
            <a:rect l="l" t="t" r="r" b="b"/>
            <a:pathLst>
              <a:path w="7975082" h="7549882">
                <a:moveTo>
                  <a:pt x="0" y="0"/>
                </a:moveTo>
                <a:lnTo>
                  <a:pt x="7975082" y="0"/>
                </a:lnTo>
                <a:lnTo>
                  <a:pt x="7975082" y="7549882"/>
                </a:lnTo>
                <a:lnTo>
                  <a:pt x="0" y="75498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1870201" y="5311306"/>
            <a:ext cx="7273799" cy="70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789"/>
              </a:lnSpc>
            </a:pPr>
            <a:r>
              <a:rPr lang="en-US" sz="1992" spc="-49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Volume vs. value paradox: Technology drives 36.4% revenue with only 21.9% order volume—prioritize over Office Supplies.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70201" y="6302598"/>
            <a:ext cx="7273799" cy="70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789"/>
              </a:lnSpc>
            </a:pPr>
            <a:r>
              <a:rPr lang="en-US" sz="1992" spc="-49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Consumer segment dominates at 52% of customer base, necessitating targeted loyalty and retention programs.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70201" y="7293889"/>
            <a:ext cx="7273799" cy="70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789"/>
              </a:lnSpc>
            </a:pPr>
            <a:r>
              <a:rPr lang="en-US" sz="1992" spc="-49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Regional performance gap: West leads at $725K while South lags at $392K—opportunity for operational replication.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70201" y="8285181"/>
            <a:ext cx="7273799" cy="70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789"/>
              </a:lnSpc>
            </a:pPr>
            <a:r>
              <a:rPr lang="en-US" sz="1992" spc="-49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Loss-making products identified for audit; strong Q4 seasonality enables inventory and staffing optimization.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52512" y="5400430"/>
            <a:ext cx="489071" cy="489071"/>
          </a:xfrm>
          <a:custGeom>
            <a:avLst/>
            <a:gdLst/>
            <a:ahLst/>
            <a:cxnLst/>
            <a:rect l="l" t="t" r="r" b="b"/>
            <a:pathLst>
              <a:path w="489071" h="489071">
                <a:moveTo>
                  <a:pt x="0" y="0"/>
                </a:moveTo>
                <a:lnTo>
                  <a:pt x="489072" y="0"/>
                </a:lnTo>
                <a:lnTo>
                  <a:pt x="489072" y="489071"/>
                </a:lnTo>
                <a:lnTo>
                  <a:pt x="0" y="4890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052512" y="6391722"/>
            <a:ext cx="489071" cy="489071"/>
          </a:xfrm>
          <a:custGeom>
            <a:avLst/>
            <a:gdLst/>
            <a:ahLst/>
            <a:cxnLst/>
            <a:rect l="l" t="t" r="r" b="b"/>
            <a:pathLst>
              <a:path w="489071" h="489071">
                <a:moveTo>
                  <a:pt x="0" y="0"/>
                </a:moveTo>
                <a:lnTo>
                  <a:pt x="489072" y="0"/>
                </a:lnTo>
                <a:lnTo>
                  <a:pt x="489072" y="489071"/>
                </a:lnTo>
                <a:lnTo>
                  <a:pt x="0" y="4890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052512" y="7383013"/>
            <a:ext cx="489071" cy="489071"/>
          </a:xfrm>
          <a:custGeom>
            <a:avLst/>
            <a:gdLst/>
            <a:ahLst/>
            <a:cxnLst/>
            <a:rect l="l" t="t" r="r" b="b"/>
            <a:pathLst>
              <a:path w="489071" h="489071">
                <a:moveTo>
                  <a:pt x="0" y="0"/>
                </a:moveTo>
                <a:lnTo>
                  <a:pt x="489072" y="0"/>
                </a:lnTo>
                <a:lnTo>
                  <a:pt x="489072" y="489071"/>
                </a:lnTo>
                <a:lnTo>
                  <a:pt x="0" y="4890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052512" y="8376909"/>
            <a:ext cx="489071" cy="489071"/>
          </a:xfrm>
          <a:custGeom>
            <a:avLst/>
            <a:gdLst/>
            <a:ahLst/>
            <a:cxnLst/>
            <a:rect l="l" t="t" r="r" b="b"/>
            <a:pathLst>
              <a:path w="489071" h="489071">
                <a:moveTo>
                  <a:pt x="0" y="0"/>
                </a:moveTo>
                <a:lnTo>
                  <a:pt x="489072" y="0"/>
                </a:lnTo>
                <a:lnTo>
                  <a:pt x="489072" y="489072"/>
                </a:lnTo>
                <a:lnTo>
                  <a:pt x="0" y="4890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38046" y="129"/>
            <a:ext cx="1849954" cy="1848037"/>
            <a:chOff x="0" y="0"/>
            <a:chExt cx="2466605" cy="246405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2466605" cy="2464050"/>
              <a:chOff x="0" y="0"/>
              <a:chExt cx="787566" cy="78675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3A58E4">
                      <a:alpha val="100000"/>
                    </a:srgbClr>
                  </a:gs>
                  <a:gs pos="100000">
                    <a:srgbClr val="293E9C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319164" y="694049"/>
              <a:ext cx="1828278" cy="11997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6421"/>
                </a:lnSpc>
              </a:pPr>
              <a:r>
                <a:rPr lang="en-US" sz="6552" spc="-419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10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536445" y="2779355"/>
            <a:ext cx="7215109" cy="379246"/>
            <a:chOff x="0" y="0"/>
            <a:chExt cx="9620146" cy="505662"/>
          </a:xfrm>
        </p:grpSpPr>
        <p:sp>
          <p:nvSpPr>
            <p:cNvPr id="8" name="TextBox 8"/>
            <p:cNvSpPr txBox="1"/>
            <p:nvPr/>
          </p:nvSpPr>
          <p:spPr>
            <a:xfrm>
              <a:off x="0" y="-49117"/>
              <a:ext cx="9403826" cy="5547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16"/>
                </a:lnSpc>
              </a:pPr>
              <a:r>
                <a:rPr lang="en-US" sz="2368" b="1" spc="-59">
                  <a:gradFill>
                    <a:gsLst>
                      <a:gs pos="0">
                        <a:srgbClr val="3A58E4">
                          <a:alpha val="100000"/>
                        </a:srgbClr>
                      </a:gs>
                      <a:gs pos="100000">
                        <a:srgbClr val="293E9C">
                          <a:alpha val="100000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atin typeface="Poppins Bold"/>
                  <a:ea typeface="Poppins Bold"/>
                  <a:cs typeface="Poppins Bold"/>
                  <a:sym typeface="Poppins Bold"/>
                </a:rPr>
                <a:t>ACTIONABLE BUSINESS INITIATIVES</a:t>
              </a:r>
            </a:p>
          </p:txBody>
        </p:sp>
        <p:sp>
          <p:nvSpPr>
            <p:cNvPr id="9" name="Freeform 9"/>
            <p:cNvSpPr/>
            <p:nvPr/>
          </p:nvSpPr>
          <p:spPr>
            <a:xfrm rot="-8687136">
              <a:off x="9303126" y="44820"/>
              <a:ext cx="252200" cy="304858"/>
            </a:xfrm>
            <a:custGeom>
              <a:avLst/>
              <a:gdLst/>
              <a:ahLst/>
              <a:cxnLst/>
              <a:rect l="l" t="t" r="r" b="b"/>
              <a:pathLst>
                <a:path w="252200" h="304858">
                  <a:moveTo>
                    <a:pt x="0" y="0"/>
                  </a:moveTo>
                  <a:lnTo>
                    <a:pt x="252200" y="0"/>
                  </a:lnTo>
                  <a:lnTo>
                    <a:pt x="252200" y="304857"/>
                  </a:lnTo>
                  <a:lnTo>
                    <a:pt x="0" y="3048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363658" y="1503884"/>
            <a:ext cx="11560683" cy="1017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635"/>
              </a:lnSpc>
            </a:pPr>
            <a:r>
              <a:rPr lang="en-US" sz="7791" spc="-498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Strategic Recommendations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2731310" y="3878731"/>
            <a:ext cx="3213033" cy="5379569"/>
            <a:chOff x="0" y="0"/>
            <a:chExt cx="1387961" cy="232385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87961" cy="2323857"/>
            </a:xfrm>
            <a:custGeom>
              <a:avLst/>
              <a:gdLst/>
              <a:ahLst/>
              <a:cxnLst/>
              <a:rect l="l" t="t" r="r" b="b"/>
              <a:pathLst>
                <a:path w="1387961" h="2323857">
                  <a:moveTo>
                    <a:pt x="0" y="0"/>
                  </a:moveTo>
                  <a:lnTo>
                    <a:pt x="1387961" y="0"/>
                  </a:lnTo>
                  <a:lnTo>
                    <a:pt x="1387961" y="2323857"/>
                  </a:lnTo>
                  <a:lnTo>
                    <a:pt x="0" y="2323857"/>
                  </a:lnTo>
                  <a:close/>
                </a:path>
              </a:pathLst>
            </a:custGeom>
            <a:solidFill>
              <a:srgbClr val="2B42A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387961" cy="2361957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935426" y="3878731"/>
            <a:ext cx="3213033" cy="5379569"/>
            <a:chOff x="0" y="0"/>
            <a:chExt cx="1387961" cy="232385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87961" cy="2323857"/>
            </a:xfrm>
            <a:custGeom>
              <a:avLst/>
              <a:gdLst/>
              <a:ahLst/>
              <a:cxnLst/>
              <a:rect l="l" t="t" r="r" b="b"/>
              <a:pathLst>
                <a:path w="1387961" h="2323857">
                  <a:moveTo>
                    <a:pt x="0" y="0"/>
                  </a:moveTo>
                  <a:lnTo>
                    <a:pt x="1387961" y="0"/>
                  </a:lnTo>
                  <a:lnTo>
                    <a:pt x="1387961" y="2323857"/>
                  </a:lnTo>
                  <a:lnTo>
                    <a:pt x="0" y="2323857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387961" cy="2361957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139541" y="3878731"/>
            <a:ext cx="3213033" cy="5379569"/>
            <a:chOff x="0" y="0"/>
            <a:chExt cx="1387961" cy="23238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87961" cy="2323857"/>
            </a:xfrm>
            <a:custGeom>
              <a:avLst/>
              <a:gdLst/>
              <a:ahLst/>
              <a:cxnLst/>
              <a:rect l="l" t="t" r="r" b="b"/>
              <a:pathLst>
                <a:path w="1387961" h="2323857">
                  <a:moveTo>
                    <a:pt x="0" y="0"/>
                  </a:moveTo>
                  <a:lnTo>
                    <a:pt x="1387961" y="0"/>
                  </a:lnTo>
                  <a:lnTo>
                    <a:pt x="1387961" y="2323857"/>
                  </a:lnTo>
                  <a:lnTo>
                    <a:pt x="0" y="2323857"/>
                  </a:lnTo>
                  <a:close/>
                </a:path>
              </a:pathLst>
            </a:custGeom>
            <a:solidFill>
              <a:srgbClr val="6984F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387961" cy="2361957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343657" y="3878731"/>
            <a:ext cx="3213033" cy="5379569"/>
            <a:chOff x="0" y="0"/>
            <a:chExt cx="1387961" cy="23238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87961" cy="2323857"/>
            </a:xfrm>
            <a:custGeom>
              <a:avLst/>
              <a:gdLst/>
              <a:ahLst/>
              <a:cxnLst/>
              <a:rect l="l" t="t" r="r" b="b"/>
              <a:pathLst>
                <a:path w="1387961" h="2323857">
                  <a:moveTo>
                    <a:pt x="0" y="0"/>
                  </a:moveTo>
                  <a:lnTo>
                    <a:pt x="1387961" y="0"/>
                  </a:lnTo>
                  <a:lnTo>
                    <a:pt x="1387961" y="2323857"/>
                  </a:lnTo>
                  <a:lnTo>
                    <a:pt x="0" y="2323857"/>
                  </a:lnTo>
                  <a:close/>
                </a:path>
              </a:pathLst>
            </a:custGeom>
            <a:solidFill>
              <a:srgbClr val="9AAD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387961" cy="2361957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 rot="5400000">
            <a:off x="2595745" y="7780405"/>
            <a:ext cx="622999" cy="351870"/>
            <a:chOff x="0" y="0"/>
            <a:chExt cx="1387983" cy="78403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387983" cy="782620"/>
            </a:xfrm>
            <a:custGeom>
              <a:avLst/>
              <a:gdLst/>
              <a:ahLst/>
              <a:cxnLst/>
              <a:rect l="l" t="t" r="r" b="b"/>
              <a:pathLst>
                <a:path w="1387983" h="782620">
                  <a:moveTo>
                    <a:pt x="693992" y="0"/>
                  </a:moveTo>
                  <a:lnTo>
                    <a:pt x="1387983" y="782620"/>
                  </a:lnTo>
                  <a:lnTo>
                    <a:pt x="0" y="782620"/>
                  </a:lnTo>
                  <a:close/>
                </a:path>
              </a:pathLst>
            </a:custGeom>
            <a:solidFill>
              <a:srgbClr val="AFBE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93871" y="292771"/>
              <a:ext cx="800241" cy="489849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 rot="5400000">
            <a:off x="5780811" y="5004756"/>
            <a:ext cx="622999" cy="351870"/>
            <a:chOff x="0" y="0"/>
            <a:chExt cx="1387983" cy="78403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387983" cy="782620"/>
            </a:xfrm>
            <a:custGeom>
              <a:avLst/>
              <a:gdLst/>
              <a:ahLst/>
              <a:cxnLst/>
              <a:rect l="l" t="t" r="r" b="b"/>
              <a:pathLst>
                <a:path w="1387983" h="782620">
                  <a:moveTo>
                    <a:pt x="693992" y="0"/>
                  </a:moveTo>
                  <a:lnTo>
                    <a:pt x="1387983" y="782620"/>
                  </a:lnTo>
                  <a:lnTo>
                    <a:pt x="0" y="782620"/>
                  </a:lnTo>
                  <a:close/>
                </a:path>
              </a:pathLst>
            </a:custGeom>
            <a:solidFill>
              <a:srgbClr val="2B42A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3871" y="292771"/>
              <a:ext cx="800241" cy="489849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 rot="5400000">
            <a:off x="8984927" y="7780405"/>
            <a:ext cx="622999" cy="351870"/>
            <a:chOff x="0" y="0"/>
            <a:chExt cx="1387983" cy="784032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387983" cy="782620"/>
            </a:xfrm>
            <a:custGeom>
              <a:avLst/>
              <a:gdLst/>
              <a:ahLst/>
              <a:cxnLst/>
              <a:rect l="l" t="t" r="r" b="b"/>
              <a:pathLst>
                <a:path w="1387983" h="782620">
                  <a:moveTo>
                    <a:pt x="693992" y="0"/>
                  </a:moveTo>
                  <a:lnTo>
                    <a:pt x="1387983" y="782620"/>
                  </a:lnTo>
                  <a:lnTo>
                    <a:pt x="0" y="78262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3871" y="292771"/>
              <a:ext cx="800241" cy="489849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 rot="5400000">
            <a:off x="12179518" y="5004756"/>
            <a:ext cx="622999" cy="351870"/>
            <a:chOff x="0" y="0"/>
            <a:chExt cx="1387983" cy="784032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387983" cy="782620"/>
            </a:xfrm>
            <a:custGeom>
              <a:avLst/>
              <a:gdLst/>
              <a:ahLst/>
              <a:cxnLst/>
              <a:rect l="l" t="t" r="r" b="b"/>
              <a:pathLst>
                <a:path w="1387983" h="782620">
                  <a:moveTo>
                    <a:pt x="693992" y="0"/>
                  </a:moveTo>
                  <a:lnTo>
                    <a:pt x="1387983" y="782620"/>
                  </a:lnTo>
                  <a:lnTo>
                    <a:pt x="0" y="782620"/>
                  </a:lnTo>
                  <a:close/>
                </a:path>
              </a:pathLst>
            </a:custGeom>
            <a:solidFill>
              <a:srgbClr val="6984F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3871" y="292771"/>
              <a:ext cx="800241" cy="489849"/>
            </a:xfrm>
            <a:prstGeom prst="rect">
              <a:avLst/>
            </a:prstGeom>
          </p:spPr>
          <p:txBody>
            <a:bodyPr lIns="33379" tIns="33379" rIns="33379" bIns="33379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269864" y="4615969"/>
            <a:ext cx="2135924" cy="1668329"/>
            <a:chOff x="0" y="0"/>
            <a:chExt cx="2847898" cy="2224439"/>
          </a:xfrm>
        </p:grpSpPr>
        <p:sp>
          <p:nvSpPr>
            <p:cNvPr id="36" name="TextBox 36"/>
            <p:cNvSpPr txBox="1"/>
            <p:nvPr/>
          </p:nvSpPr>
          <p:spPr>
            <a:xfrm>
              <a:off x="0" y="-28575"/>
              <a:ext cx="2847898" cy="6900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057"/>
                </a:lnSpc>
              </a:pPr>
              <a:r>
                <a:rPr lang="en-US" sz="1595" b="1" spc="-4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REALLOCATE</a:t>
              </a:r>
            </a:p>
            <a:p>
              <a:pPr marL="0" lvl="0" indent="0" algn="just">
                <a:lnSpc>
                  <a:spcPts val="2057"/>
                </a:lnSpc>
              </a:pPr>
              <a:r>
                <a:rPr lang="en-US" sz="1595" b="1" spc="-4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MARKETING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948860"/>
              <a:ext cx="2847898" cy="12755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1946"/>
                </a:lnSpc>
              </a:pPr>
              <a:r>
                <a:rPr lang="en-US" sz="1508" spc="-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Increase Technology promotion by 25%, reduce Office Supplies mass marketing.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4470562" y="7518972"/>
            <a:ext cx="1445813" cy="1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1537"/>
              </a:lnSpc>
            </a:pPr>
            <a:r>
              <a:rPr lang="en-US" sz="8944" spc="-26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01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6473980" y="6684286"/>
            <a:ext cx="2135924" cy="1906454"/>
            <a:chOff x="0" y="0"/>
            <a:chExt cx="2847898" cy="2541939"/>
          </a:xfrm>
        </p:grpSpPr>
        <p:sp>
          <p:nvSpPr>
            <p:cNvPr id="40" name="TextBox 40"/>
            <p:cNvSpPr txBox="1"/>
            <p:nvPr/>
          </p:nvSpPr>
          <p:spPr>
            <a:xfrm>
              <a:off x="0" y="-28575"/>
              <a:ext cx="2847898" cy="6900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057"/>
                </a:lnSpc>
              </a:pPr>
              <a:r>
                <a:rPr lang="en-US" sz="1595" b="1" spc="-4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LAUNCH LOYALTY PROGRAM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948860"/>
              <a:ext cx="2847898" cy="15930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1946"/>
                </a:lnSpc>
              </a:pPr>
              <a:r>
                <a:rPr lang="en-US" sz="1508" spc="-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Tiered rewards targeting 52% Consumer segment to boost repeat purchases by 15%.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425798" y="4070729"/>
            <a:ext cx="1578549" cy="1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1537"/>
              </a:lnSpc>
            </a:pPr>
            <a:r>
              <a:rPr lang="en-US" sz="8944" spc="-26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02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681912" y="4615969"/>
            <a:ext cx="2135924" cy="1668329"/>
            <a:chOff x="0" y="0"/>
            <a:chExt cx="2847898" cy="2224439"/>
          </a:xfrm>
        </p:grpSpPr>
        <p:sp>
          <p:nvSpPr>
            <p:cNvPr id="44" name="TextBox 44"/>
            <p:cNvSpPr txBox="1"/>
            <p:nvPr/>
          </p:nvSpPr>
          <p:spPr>
            <a:xfrm>
              <a:off x="0" y="-28575"/>
              <a:ext cx="2847898" cy="6900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057"/>
                </a:lnSpc>
              </a:pPr>
              <a:r>
                <a:rPr lang="en-US" sz="1595" b="1" spc="-4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REPLICATE WEST SUCCESS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948860"/>
              <a:ext cx="2847898" cy="12755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1946"/>
                </a:lnSpc>
              </a:pPr>
              <a:r>
                <a:rPr lang="en-US" sz="1508" spc="-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Operational audit and pilot initiatives in South region to boost sales by 20%.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10617138" y="7518972"/>
            <a:ext cx="1711285" cy="1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1537"/>
              </a:lnSpc>
            </a:pPr>
            <a:r>
              <a:rPr lang="en-US" sz="8944" spc="-26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03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12886027" y="6922411"/>
            <a:ext cx="2135924" cy="1668329"/>
            <a:chOff x="0" y="0"/>
            <a:chExt cx="2847898" cy="2224439"/>
          </a:xfrm>
        </p:grpSpPr>
        <p:sp>
          <p:nvSpPr>
            <p:cNvPr id="48" name="TextBox 48"/>
            <p:cNvSpPr txBox="1"/>
            <p:nvPr/>
          </p:nvSpPr>
          <p:spPr>
            <a:xfrm>
              <a:off x="0" y="-28575"/>
              <a:ext cx="2847898" cy="6900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2057"/>
                </a:lnSpc>
              </a:pPr>
              <a:r>
                <a:rPr lang="en-US" sz="1595" b="1" spc="-4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OPTIMIZE</a:t>
              </a:r>
            </a:p>
            <a:p>
              <a:pPr marL="0" lvl="0" indent="0" algn="just">
                <a:lnSpc>
                  <a:spcPts val="2057"/>
                </a:lnSpc>
              </a:pPr>
              <a:r>
                <a:rPr lang="en-US" sz="1595" b="1" spc="-4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PORTFOLIO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948860"/>
              <a:ext cx="2847898" cy="12755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1946"/>
                </a:lnSpc>
              </a:pPr>
              <a:r>
                <a:rPr lang="en-US" sz="1508" spc="-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Audit loss-makers, adjust pricing or discontinue, promote hero products.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3837845" y="4070729"/>
            <a:ext cx="1578549" cy="1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1537"/>
              </a:lnSpc>
            </a:pPr>
            <a:r>
              <a:rPr lang="en-US" sz="8944" spc="-26">
                <a:solidFill>
                  <a:srgbClr val="FFFFFF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741311" y="0"/>
            <a:ext cx="546689" cy="7173190"/>
            <a:chOff x="0" y="0"/>
            <a:chExt cx="143984" cy="18892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3984" cy="1889235"/>
            </a:xfrm>
            <a:custGeom>
              <a:avLst/>
              <a:gdLst/>
              <a:ahLst/>
              <a:cxnLst/>
              <a:rect l="l" t="t" r="r" b="b"/>
              <a:pathLst>
                <a:path w="143984" h="1889235">
                  <a:moveTo>
                    <a:pt x="0" y="0"/>
                  </a:moveTo>
                  <a:lnTo>
                    <a:pt x="143984" y="0"/>
                  </a:lnTo>
                  <a:lnTo>
                    <a:pt x="143984" y="1889235"/>
                  </a:lnTo>
                  <a:lnTo>
                    <a:pt x="0" y="1889235"/>
                  </a:lnTo>
                  <a:close/>
                </a:path>
              </a:pathLst>
            </a:custGeom>
            <a:gradFill rotWithShape="1">
              <a:gsLst>
                <a:gs pos="0">
                  <a:srgbClr val="293E9C">
                    <a:alpha val="100000"/>
                  </a:srgbClr>
                </a:gs>
                <a:gs pos="100000">
                  <a:srgbClr val="3A58E4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3984" cy="1927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 flipH="1">
            <a:off x="4442685" y="0"/>
            <a:ext cx="0" cy="1028700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>
            <a:off x="8872264" y="0"/>
            <a:ext cx="0" cy="7163665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3301844" y="0"/>
            <a:ext cx="0" cy="7163665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>
            <a:off x="0" y="7173190"/>
            <a:ext cx="18288000" cy="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16305" y="9608"/>
            <a:ext cx="1197405" cy="1196165"/>
            <a:chOff x="0" y="0"/>
            <a:chExt cx="1596540" cy="159488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42685" y="9608"/>
            <a:ext cx="1197405" cy="1196165"/>
            <a:chOff x="0" y="0"/>
            <a:chExt cx="1596540" cy="159488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875845" y="9608"/>
            <a:ext cx="1197405" cy="1196165"/>
            <a:chOff x="0" y="0"/>
            <a:chExt cx="1596540" cy="1594886"/>
          </a:xfrm>
        </p:grpSpPr>
        <p:grpSp>
          <p:nvGrpSpPr>
            <p:cNvPr id="20" name="Group 20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309005" y="9608"/>
            <a:ext cx="1197405" cy="1196165"/>
            <a:chOff x="0" y="0"/>
            <a:chExt cx="1596540" cy="1594886"/>
          </a:xfrm>
        </p:grpSpPr>
        <p:grpSp>
          <p:nvGrpSpPr>
            <p:cNvPr id="25" name="Group 25"/>
            <p:cNvGrpSpPr/>
            <p:nvPr/>
          </p:nvGrpSpPr>
          <p:grpSpPr>
            <a:xfrm>
              <a:off x="0" y="0"/>
              <a:ext cx="1596540" cy="1594886"/>
              <a:chOff x="0" y="0"/>
              <a:chExt cx="787566" cy="7867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787566" cy="786750"/>
              </a:xfrm>
              <a:custGeom>
                <a:avLst/>
                <a:gdLst/>
                <a:ahLst/>
                <a:cxnLst/>
                <a:rect l="l" t="t" r="r" b="b"/>
                <a:pathLst>
                  <a:path w="787566" h="786750">
                    <a:moveTo>
                      <a:pt x="0" y="0"/>
                    </a:moveTo>
                    <a:lnTo>
                      <a:pt x="787566" y="0"/>
                    </a:lnTo>
                    <a:lnTo>
                      <a:pt x="787566" y="786750"/>
                    </a:lnTo>
                    <a:lnTo>
                      <a:pt x="0" y="78675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93E9C">
                      <a:alpha val="100000"/>
                    </a:srgbClr>
                  </a:gs>
                  <a:gs pos="100000">
                    <a:srgbClr val="3A58E4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-38100"/>
                <a:ext cx="787566" cy="824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206583" y="454809"/>
              <a:ext cx="1183375" cy="7709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56"/>
                </a:lnSpc>
              </a:pPr>
              <a:r>
                <a:rPr lang="en-US" sz="4241" spc="-271">
                  <a:solidFill>
                    <a:srgbClr val="FFFFFF"/>
                  </a:solidFill>
                  <a:latin typeface="Bricolage Grotesque"/>
                  <a:ea typeface="Bricolage Grotesque"/>
                  <a:cs typeface="Bricolage Grotesque"/>
                  <a:sym typeface="Bricolage Grotesque"/>
                </a:rPr>
                <a:t>04</a:t>
              </a:r>
            </a:p>
          </p:txBody>
        </p:sp>
      </p:grpSp>
      <p:sp>
        <p:nvSpPr>
          <p:cNvPr id="29" name="Freeform 29"/>
          <p:cNvSpPr/>
          <p:nvPr/>
        </p:nvSpPr>
        <p:spPr>
          <a:xfrm>
            <a:off x="10610685" y="1828378"/>
            <a:ext cx="916600" cy="863543"/>
          </a:xfrm>
          <a:custGeom>
            <a:avLst/>
            <a:gdLst/>
            <a:ahLst/>
            <a:cxnLst/>
            <a:rect l="l" t="t" r="r" b="b"/>
            <a:pathLst>
              <a:path w="916600" h="863543">
                <a:moveTo>
                  <a:pt x="0" y="0"/>
                </a:moveTo>
                <a:lnTo>
                  <a:pt x="916600" y="0"/>
                </a:lnTo>
                <a:lnTo>
                  <a:pt x="916600" y="863543"/>
                </a:lnTo>
                <a:lnTo>
                  <a:pt x="0" y="8635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30"/>
          <p:cNvSpPr/>
          <p:nvPr/>
        </p:nvSpPr>
        <p:spPr>
          <a:xfrm rot="-5400000">
            <a:off x="14824854" y="1935865"/>
            <a:ext cx="1133308" cy="879410"/>
          </a:xfrm>
          <a:custGeom>
            <a:avLst/>
            <a:gdLst/>
            <a:ahLst/>
            <a:cxnLst/>
            <a:rect l="l" t="t" r="r" b="b"/>
            <a:pathLst>
              <a:path w="1133308" h="879410">
                <a:moveTo>
                  <a:pt x="0" y="0"/>
                </a:moveTo>
                <a:lnTo>
                  <a:pt x="1133308" y="0"/>
                </a:lnTo>
                <a:lnTo>
                  <a:pt x="1133308" y="879410"/>
                </a:lnTo>
                <a:lnTo>
                  <a:pt x="0" y="879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31"/>
          <p:cNvSpPr/>
          <p:nvPr/>
        </p:nvSpPr>
        <p:spPr>
          <a:xfrm>
            <a:off x="1861830" y="1826980"/>
            <a:ext cx="750113" cy="946572"/>
          </a:xfrm>
          <a:custGeom>
            <a:avLst/>
            <a:gdLst/>
            <a:ahLst/>
            <a:cxnLst/>
            <a:rect l="l" t="t" r="r" b="b"/>
            <a:pathLst>
              <a:path w="750113" h="946572">
                <a:moveTo>
                  <a:pt x="0" y="0"/>
                </a:moveTo>
                <a:lnTo>
                  <a:pt x="750114" y="0"/>
                </a:lnTo>
                <a:lnTo>
                  <a:pt x="750114" y="946572"/>
                </a:lnTo>
                <a:lnTo>
                  <a:pt x="0" y="946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2" name="Group 32"/>
          <p:cNvGrpSpPr/>
          <p:nvPr/>
        </p:nvGrpSpPr>
        <p:grpSpPr>
          <a:xfrm>
            <a:off x="1028700" y="8125800"/>
            <a:ext cx="22757" cy="975106"/>
            <a:chOff x="0" y="0"/>
            <a:chExt cx="12543" cy="53746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3" cy="537460"/>
            </a:xfrm>
            <a:custGeom>
              <a:avLst/>
              <a:gdLst/>
              <a:ahLst/>
              <a:cxnLst/>
              <a:rect l="l" t="t" r="r" b="b"/>
              <a:pathLst>
                <a:path w="12543" h="537460">
                  <a:moveTo>
                    <a:pt x="0" y="0"/>
                  </a:moveTo>
                  <a:lnTo>
                    <a:pt x="12543" y="0"/>
                  </a:lnTo>
                  <a:lnTo>
                    <a:pt x="12543" y="537460"/>
                  </a:lnTo>
                  <a:lnTo>
                    <a:pt x="0" y="537460"/>
                  </a:lnTo>
                  <a:close/>
                </a:path>
              </a:pathLst>
            </a:custGeom>
            <a:solidFill>
              <a:srgbClr val="3A58E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2543" cy="575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-9525" y="7173190"/>
            <a:ext cx="546689" cy="3113810"/>
            <a:chOff x="0" y="0"/>
            <a:chExt cx="143984" cy="82009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43984" cy="820098"/>
            </a:xfrm>
            <a:custGeom>
              <a:avLst/>
              <a:gdLst/>
              <a:ahLst/>
              <a:cxnLst/>
              <a:rect l="l" t="t" r="r" b="b"/>
              <a:pathLst>
                <a:path w="143984" h="820098">
                  <a:moveTo>
                    <a:pt x="0" y="0"/>
                  </a:moveTo>
                  <a:lnTo>
                    <a:pt x="143984" y="0"/>
                  </a:lnTo>
                  <a:lnTo>
                    <a:pt x="143984" y="820098"/>
                  </a:lnTo>
                  <a:lnTo>
                    <a:pt x="0" y="820098"/>
                  </a:lnTo>
                  <a:close/>
                </a:path>
              </a:pathLst>
            </a:custGeom>
            <a:gradFill rotWithShape="1">
              <a:gsLst>
                <a:gs pos="0">
                  <a:srgbClr val="3A58E4">
                    <a:alpha val="100000"/>
                  </a:srgbClr>
                </a:gs>
                <a:gs pos="100000">
                  <a:srgbClr val="293E9C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143984" cy="8581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8" name="Freeform 38"/>
          <p:cNvSpPr/>
          <p:nvPr/>
        </p:nvSpPr>
        <p:spPr>
          <a:xfrm>
            <a:off x="6087142" y="1947475"/>
            <a:ext cx="1235165" cy="670450"/>
          </a:xfrm>
          <a:custGeom>
            <a:avLst/>
            <a:gdLst/>
            <a:ahLst/>
            <a:cxnLst/>
            <a:rect l="l" t="t" r="r" b="b"/>
            <a:pathLst>
              <a:path w="1235165" h="670450">
                <a:moveTo>
                  <a:pt x="0" y="0"/>
                </a:moveTo>
                <a:lnTo>
                  <a:pt x="1235165" y="0"/>
                </a:lnTo>
                <a:lnTo>
                  <a:pt x="1235165" y="670449"/>
                </a:lnTo>
                <a:lnTo>
                  <a:pt x="0" y="6704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TextBox 39"/>
          <p:cNvSpPr txBox="1"/>
          <p:nvPr/>
        </p:nvSpPr>
        <p:spPr>
          <a:xfrm>
            <a:off x="562973" y="4170724"/>
            <a:ext cx="3336787" cy="2147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Star schema database design with optimized fact and dimension tables. ETL pipeline development and data quality management for reliable analytics foundations.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989081" y="4170724"/>
            <a:ext cx="3336787" cy="2147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Complex CTEs for modular queries, window functions (ROW_NUMBER, RANK, PARTITION BY), self-joins for market basket analysis, and query performance optimization.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15189" y="4475524"/>
            <a:ext cx="3336787" cy="1843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Custom DAX measures, interactive dashboards, advanced visualizations including decomposition trees and Azure maps for geographic insights.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844769" y="4780324"/>
            <a:ext cx="3336787" cy="153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35"/>
              </a:lnSpc>
            </a:pPr>
            <a:r>
              <a:rPr lang="en-US" sz="1873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KPI definition and tracking, trend analysis, customer segmentation, profitability audits, and actionable insight generation.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40522" y="8151610"/>
            <a:ext cx="3028965" cy="9351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</a:pPr>
            <a:r>
              <a:rPr lang="en-US" sz="3674" spc="-235" dirty="0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Technical Skills Demonstrated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9081" y="7753829"/>
            <a:ext cx="7762895" cy="13470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660"/>
              </a:lnSpc>
            </a:pPr>
            <a:r>
              <a:rPr lang="en-US" sz="1900" spc="-5">
                <a:solidFill>
                  <a:srgbClr val="3A58E4"/>
                </a:solidFill>
                <a:latin typeface="Poppins"/>
                <a:ea typeface="Poppins"/>
                <a:cs typeface="Poppins"/>
                <a:sym typeface="Poppins"/>
              </a:rPr>
              <a:t>Comprehensive BI competencies spanning the full analytics lifecycle—from data engineering and advanced SQL to sophisticated Power BI dashboards and strategic business intelligence.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12270" y="3090400"/>
            <a:ext cx="3438193" cy="406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  <a:spcBef>
                <a:spcPct val="0"/>
              </a:spcBef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DATA ENGINEERING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938378" y="3090400"/>
            <a:ext cx="3438193" cy="406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  <a:spcBef>
                <a:spcPct val="0"/>
              </a:spcBef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ADVANCED SQL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364486" y="3090400"/>
            <a:ext cx="3438193" cy="406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POWER BI &amp; DAX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3794066" y="3090400"/>
            <a:ext cx="3438193" cy="406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3"/>
              </a:lnSpc>
            </a:pPr>
            <a:r>
              <a:rPr lang="en-US" sz="2388" b="1" spc="-152">
                <a:gradFill>
                  <a:gsLst>
                    <a:gs pos="0">
                      <a:srgbClr val="3A58E4">
                        <a:alpha val="100000"/>
                      </a:srgbClr>
                    </a:gs>
                    <a:gs pos="100000">
                      <a:srgbClr val="293E9C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BUSINESS INTELLIGENCE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641386" y="0"/>
            <a:ext cx="4646614" cy="10287000"/>
            <a:chOff x="0" y="0"/>
            <a:chExt cx="12238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23800" cy="2709333"/>
            </a:xfrm>
            <a:custGeom>
              <a:avLst/>
              <a:gdLst/>
              <a:ahLst/>
              <a:cxnLst/>
              <a:rect l="l" t="t" r="r" b="b"/>
              <a:pathLst>
                <a:path w="1223800" h="2709333">
                  <a:moveTo>
                    <a:pt x="0" y="0"/>
                  </a:moveTo>
                  <a:lnTo>
                    <a:pt x="1223800" y="0"/>
                  </a:lnTo>
                  <a:lnTo>
                    <a:pt x="1223800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3A58E4">
                    <a:alpha val="100000"/>
                  </a:srgbClr>
                </a:gs>
                <a:gs pos="100000">
                  <a:srgbClr val="293E9C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23800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102839" y="1172167"/>
            <a:ext cx="1723707" cy="8040435"/>
            <a:chOff x="0" y="0"/>
            <a:chExt cx="2298277" cy="10720580"/>
          </a:xfrm>
        </p:grpSpPr>
        <p:sp>
          <p:nvSpPr>
            <p:cNvPr id="6" name="Freeform 6"/>
            <p:cNvSpPr/>
            <p:nvPr/>
          </p:nvSpPr>
          <p:spPr>
            <a:xfrm>
              <a:off x="670290" y="0"/>
              <a:ext cx="944673" cy="947395"/>
            </a:xfrm>
            <a:custGeom>
              <a:avLst/>
              <a:gdLst/>
              <a:ahLst/>
              <a:cxnLst/>
              <a:rect l="l" t="t" r="r" b="b"/>
              <a:pathLst>
                <a:path w="944673" h="947395">
                  <a:moveTo>
                    <a:pt x="0" y="0"/>
                  </a:moveTo>
                  <a:lnTo>
                    <a:pt x="944672" y="0"/>
                  </a:lnTo>
                  <a:lnTo>
                    <a:pt x="944672" y="947395"/>
                  </a:lnTo>
                  <a:lnTo>
                    <a:pt x="0" y="947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263035"/>
              <a:ext cx="2272228" cy="390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153"/>
                </a:lnSpc>
              </a:pPr>
              <a:r>
                <a:rPr lang="en-US" sz="2012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Superstore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024" y="1662936"/>
              <a:ext cx="2272228" cy="7459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153"/>
                </a:lnSpc>
              </a:pPr>
              <a:r>
                <a:rPr lang="en-US" sz="2012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BI &amp; Analytics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024" y="9930303"/>
              <a:ext cx="2272228" cy="390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153"/>
                </a:lnSpc>
              </a:pPr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6049" y="10330204"/>
              <a:ext cx="2272228" cy="390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153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986465" y="0"/>
            <a:ext cx="4378150" cy="10287000"/>
            <a:chOff x="0" y="0"/>
            <a:chExt cx="678290" cy="15937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78290" cy="1593725"/>
            </a:xfrm>
            <a:custGeom>
              <a:avLst/>
              <a:gdLst/>
              <a:ahLst/>
              <a:cxnLst/>
              <a:rect l="l" t="t" r="r" b="b"/>
              <a:pathLst>
                <a:path w="678290" h="1593725">
                  <a:moveTo>
                    <a:pt x="0" y="0"/>
                  </a:moveTo>
                  <a:lnTo>
                    <a:pt x="678290" y="0"/>
                  </a:lnTo>
                  <a:lnTo>
                    <a:pt x="678290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l="-16964" r="-1696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AutoShape 13"/>
          <p:cNvSpPr/>
          <p:nvPr/>
        </p:nvSpPr>
        <p:spPr>
          <a:xfrm>
            <a:off x="13503000" y="0"/>
            <a:ext cx="0" cy="10287000"/>
          </a:xfrm>
          <a:prstGeom prst="line">
            <a:avLst/>
          </a:prstGeom>
          <a:ln w="19050" cap="rnd">
            <a:solidFill>
              <a:srgbClr val="3A58E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4650619" y="5002038"/>
            <a:ext cx="2628148" cy="1957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246"/>
              </a:lnSpc>
            </a:pPr>
            <a:r>
              <a:rPr lang="en-US" sz="1604" spc="-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Transforming $2.3M in transactional data into strategic business insights. I look forward to discussing how I can contribute to your team. Questions welcome.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857250"/>
            <a:ext cx="6671890" cy="1460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1905"/>
              </a:lnSpc>
              <a:spcBef>
                <a:spcPct val="0"/>
              </a:spcBef>
            </a:pPr>
            <a:r>
              <a:rPr lang="en-US" sz="8504" b="1" spc="-544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Canva Sans Bold"/>
                <a:ea typeface="Canva Sans Bold"/>
                <a:cs typeface="Canva Sans Bold"/>
                <a:sym typeface="Canva Sans Bold"/>
              </a:rPr>
              <a:t>Thank You!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2316167"/>
            <a:ext cx="6671890" cy="3237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8333"/>
              </a:lnSpc>
            </a:pPr>
            <a:r>
              <a:rPr lang="en-US" sz="8504" spc="-544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Questions &amp;</a:t>
            </a:r>
          </a:p>
          <a:p>
            <a:pPr marL="0" lvl="0" indent="0" algn="just">
              <a:lnSpc>
                <a:spcPts val="8333"/>
              </a:lnSpc>
            </a:pPr>
            <a:r>
              <a:rPr lang="en-US" sz="8504" spc="-544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Discussion</a:t>
            </a:r>
          </a:p>
          <a:p>
            <a:pPr marL="0" lvl="0" indent="0" algn="just">
              <a:lnSpc>
                <a:spcPts val="8333"/>
              </a:lnSpc>
            </a:pPr>
            <a:r>
              <a:rPr lang="en-US" sz="8504" spc="-544">
                <a:gradFill>
                  <a:gsLst>
                    <a:gs pos="0">
                      <a:srgbClr val="293E9C">
                        <a:alpha val="100000"/>
                      </a:srgbClr>
                    </a:gs>
                    <a:gs pos="100000">
                      <a:srgbClr val="3A58E4">
                        <a:alpha val="10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atin typeface="Bricolage Grotesque"/>
                <a:ea typeface="Bricolage Grotesque"/>
                <a:cs typeface="Bricolage Grotesque"/>
                <a:sym typeface="Bricolage Grotesque"/>
              </a:rPr>
              <a:t>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1008</Words>
  <Application>Microsoft Office PowerPoint</Application>
  <PresentationFormat>Custom</PresentationFormat>
  <Paragraphs>132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Poppins Bold</vt:lpstr>
      <vt:lpstr>Arial</vt:lpstr>
      <vt:lpstr>Canva Sans Bold</vt:lpstr>
      <vt:lpstr>Poppins</vt:lpstr>
      <vt:lpstr>Bricolage Grotesque</vt:lpstr>
      <vt:lpstr>Bricolage Grotesque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Superstore BI &amp; Data Analytics Portfolio</dc:title>
  <dc:creator>admin</dc:creator>
  <cp:lastModifiedBy>Mohanad Ibrahim Elsayed Elbadawy</cp:lastModifiedBy>
  <cp:revision>4</cp:revision>
  <dcterms:created xsi:type="dcterms:W3CDTF">2006-08-16T00:00:00Z</dcterms:created>
  <dcterms:modified xsi:type="dcterms:W3CDTF">2026-05-06T17:02:13Z</dcterms:modified>
  <dc:identifier>DAHI1yUuJ04</dc:identifier>
</cp:coreProperties>
</file>