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ricolage Grotesque" panose="020B0604020202020204" charset="0"/>
      <p:regular r:id="rId14"/>
    </p:embeddedFont>
    <p:embeddedFont>
      <p:font typeface="Bricolage Grotesque Bold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Poppins" panose="00000500000000000000" pitchFamily="2" charset="0"/>
      <p:regular r:id="rId17"/>
    </p:embeddedFont>
    <p:embeddedFont>
      <p:font typeface="Poppi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415882" cy="10287000"/>
            <a:chOff x="0" y="0"/>
            <a:chExt cx="63628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641665" y="-771303"/>
            <a:ext cx="9230740" cy="16410204"/>
          </a:xfrm>
          <a:custGeom>
            <a:avLst/>
            <a:gdLst/>
            <a:ahLst/>
            <a:cxnLst/>
            <a:rect l="l" t="t" r="r" b="b"/>
            <a:pathLst>
              <a:path w="9230740" h="16410204">
                <a:moveTo>
                  <a:pt x="0" y="0"/>
                </a:moveTo>
                <a:lnTo>
                  <a:pt x="9230740" y="0"/>
                </a:lnTo>
                <a:lnTo>
                  <a:pt x="9230740" y="16410205"/>
                </a:lnTo>
                <a:lnTo>
                  <a:pt x="0" y="1641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39956" y="1028700"/>
            <a:ext cx="735971" cy="710546"/>
          </a:xfrm>
          <a:custGeom>
            <a:avLst/>
            <a:gdLst/>
            <a:ahLst/>
            <a:cxnLst/>
            <a:rect l="l" t="t" r="r" b="b"/>
            <a:pathLst>
              <a:path w="735971" h="710546">
                <a:moveTo>
                  <a:pt x="0" y="0"/>
                </a:moveTo>
                <a:lnTo>
                  <a:pt x="735970" y="0"/>
                </a:lnTo>
                <a:lnTo>
                  <a:pt x="735970" y="710546"/>
                </a:lnTo>
                <a:lnTo>
                  <a:pt x="0" y="710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218572" y="7527704"/>
            <a:ext cx="2772573" cy="1578195"/>
            <a:chOff x="0" y="47625"/>
            <a:chExt cx="3696764" cy="174804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385418"/>
              <a:ext cx="134591" cy="13459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 dirty="0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06484" y="47625"/>
              <a:ext cx="2749098" cy="381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69"/>
                </a:lnSpc>
              </a:pPr>
              <a:r>
                <a:rPr lang="en-US" sz="2149" b="1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PRESENTED BY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6484" y="536670"/>
              <a:ext cx="3190280" cy="327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52"/>
                </a:lnSpc>
              </a:pPr>
              <a:r>
                <a:rPr lang="en-US" sz="2014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Mohanad Ibrahim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661082"/>
              <a:ext cx="134591" cy="134591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20099" y="2005378"/>
            <a:ext cx="5996813" cy="321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Superstore BI</a:t>
            </a:r>
          </a:p>
          <a:p>
            <a:pPr marL="0" lvl="0" indent="0" algn="l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&amp; Data</a:t>
            </a:r>
          </a:p>
          <a:p>
            <a:pPr marL="0" lvl="0" indent="0" algn="l">
              <a:lnSpc>
                <a:spcPts val="8279"/>
              </a:lnSpc>
            </a:pPr>
            <a:r>
              <a:rPr lang="en-US" sz="8448" spc="-54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Analytics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20099" y="5598078"/>
            <a:ext cx="5696631" cy="107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80"/>
              </a:lnSpc>
            </a:pPr>
            <a:r>
              <a:rPr lang="en-US" sz="2172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End-to-End Business Intelligence Solution</a:t>
            </a:r>
          </a:p>
          <a:p>
            <a:pPr marL="0" lvl="0" indent="0" algn="just">
              <a:lnSpc>
                <a:spcPts val="2780"/>
              </a:lnSpc>
            </a:pPr>
            <a:r>
              <a:rPr lang="en-US" sz="2172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Transforming Data into Actionable Business Insights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0972" y="1968832"/>
            <a:ext cx="1704171" cy="34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9"/>
              </a:lnSpc>
            </a:pPr>
            <a:r>
              <a:rPr lang="en-US" sz="226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Superstore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0740" y="2320516"/>
            <a:ext cx="1704171" cy="311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67"/>
              </a:lnSpc>
            </a:pPr>
            <a:r>
              <a:rPr lang="en-US" sz="21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60740" y="8287049"/>
            <a:ext cx="1713939" cy="662868"/>
            <a:chOff x="0" y="0"/>
            <a:chExt cx="2285252" cy="883824"/>
          </a:xfrm>
        </p:grpSpPr>
        <p:sp>
          <p:nvSpPr>
            <p:cNvPr id="23" name="TextBox 23"/>
            <p:cNvSpPr txBox="1"/>
            <p:nvPr/>
          </p:nvSpPr>
          <p:spPr>
            <a:xfrm>
              <a:off x="0" y="0"/>
              <a:ext cx="2272228" cy="45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19"/>
                </a:lnSpc>
              </a:pPr>
              <a:r>
                <a:rPr lang="en-US" sz="2261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BI &amp;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24" y="465701"/>
              <a:ext cx="2272228" cy="4181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67"/>
                </a:lnSpc>
              </a:pPr>
              <a:r>
                <a:rPr lang="en-US" sz="211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0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444268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305" y="9608"/>
            <a:ext cx="1197405" cy="1196165"/>
            <a:chOff x="0" y="0"/>
            <a:chExt cx="1596540" cy="159488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42685" y="9608"/>
            <a:ext cx="1197405" cy="1196165"/>
            <a:chOff x="0" y="0"/>
            <a:chExt cx="1596540" cy="159488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75845" y="9608"/>
            <a:ext cx="1197405" cy="1196165"/>
            <a:chOff x="0" y="0"/>
            <a:chExt cx="1596540" cy="159488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626011" y="1938707"/>
            <a:ext cx="842961" cy="679989"/>
          </a:xfrm>
          <a:custGeom>
            <a:avLst/>
            <a:gdLst/>
            <a:ahLst/>
            <a:cxnLst/>
            <a:rect l="l" t="t" r="r" b="b"/>
            <a:pathLst>
              <a:path w="842961" h="679989">
                <a:moveTo>
                  <a:pt x="0" y="0"/>
                </a:moveTo>
                <a:lnTo>
                  <a:pt x="842961" y="0"/>
                </a:lnTo>
                <a:lnTo>
                  <a:pt x="842961" y="679989"/>
                </a:lnTo>
                <a:lnTo>
                  <a:pt x="0" y="679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 rot="-5400000">
            <a:off x="15164526" y="1921074"/>
            <a:ext cx="730217" cy="751417"/>
          </a:xfrm>
          <a:custGeom>
            <a:avLst/>
            <a:gdLst/>
            <a:ahLst/>
            <a:cxnLst/>
            <a:rect l="l" t="t" r="r" b="b"/>
            <a:pathLst>
              <a:path w="730217" h="751417">
                <a:moveTo>
                  <a:pt x="0" y="0"/>
                </a:moveTo>
                <a:lnTo>
                  <a:pt x="730217" y="0"/>
                </a:lnTo>
                <a:lnTo>
                  <a:pt x="730217" y="751418"/>
                </a:lnTo>
                <a:lnTo>
                  <a:pt x="0" y="751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861530" y="1855282"/>
            <a:ext cx="750152" cy="895181"/>
          </a:xfrm>
          <a:custGeom>
            <a:avLst/>
            <a:gdLst/>
            <a:ahLst/>
            <a:cxnLst/>
            <a:rect l="l" t="t" r="r" b="b"/>
            <a:pathLst>
              <a:path w="750152" h="895181">
                <a:moveTo>
                  <a:pt x="0" y="0"/>
                </a:moveTo>
                <a:lnTo>
                  <a:pt x="750152" y="0"/>
                </a:lnTo>
                <a:lnTo>
                  <a:pt x="750152" y="895181"/>
                </a:lnTo>
                <a:lnTo>
                  <a:pt x="0" y="895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1028700" y="8125800"/>
            <a:ext cx="22757" cy="975106"/>
            <a:chOff x="0" y="0"/>
            <a:chExt cx="12543" cy="5374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5" y="71731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113668" y="1939492"/>
            <a:ext cx="1154813" cy="690688"/>
          </a:xfrm>
          <a:custGeom>
            <a:avLst/>
            <a:gdLst/>
            <a:ahLst/>
            <a:cxnLst/>
            <a:rect l="l" t="t" r="r" b="b"/>
            <a:pathLst>
              <a:path w="1154813" h="690688">
                <a:moveTo>
                  <a:pt x="0" y="0"/>
                </a:moveTo>
                <a:lnTo>
                  <a:pt x="1154814" y="0"/>
                </a:lnTo>
                <a:lnTo>
                  <a:pt x="1154814" y="690688"/>
                </a:lnTo>
                <a:lnTo>
                  <a:pt x="0" y="690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562973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Professional star schema with central fact table and six dimension tables optimized for complex analytics and scalable data growth.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89081" y="4780324"/>
            <a:ext cx="3336787" cy="153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Complex CTEs, window functions, and self-joins enabling profitability audits, market basket analysis, and dynamic ranking.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5189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Custom DAX measures, decomposition trees, and Azure maps delivering executive-ready visualizations and drill-down capabilities.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44769" y="4780324"/>
            <a:ext cx="3336787" cy="153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Data-driven insights translated into actionable initiatives for marketing, operations, and product portfolio optimization.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7678" y="8063749"/>
            <a:ext cx="2762082" cy="119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85"/>
              </a:lnSpc>
            </a:pPr>
            <a:r>
              <a:rPr lang="en-US" sz="4679" spc="-29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9081" y="7753829"/>
            <a:ext cx="7762895" cy="134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0"/>
              </a:lnSpc>
            </a:pPr>
            <a:r>
              <a:rPr lang="en-US" sz="190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End-to-end BI solution using US Superstore dataset: 9,994 transactional records over 4 years. Demonstrating advanced data engineering, SQL analytics, and interactive Power BI dashboards to optimize profitability.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2270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STAR SCHEMA DATABASE ARCHITECTURE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38378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ADVANCED SQL ANALYTICS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448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INTERACTIVE POWER BI DASHBOARDS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79406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STRATEGIC 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6701" y="1192573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46701" y="4091471"/>
            <a:ext cx="7106119" cy="435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6"/>
              </a:lnSpc>
            </a:pPr>
            <a:r>
              <a:rPr lang="en-US" sz="2368" b="1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STAR SCHEMA DATABASE DESIGN IN SQL SERVER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74766" y="844929"/>
            <a:ext cx="5780387" cy="271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2"/>
              </a:lnSpc>
            </a:pPr>
            <a:r>
              <a:rPr lang="en-US" sz="7176" spc="-45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Technical Architecture &amp; Data Model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6701" y="5787864"/>
            <a:ext cx="7325824" cy="85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6"/>
              </a:lnSpc>
            </a:pPr>
            <a:r>
              <a:rPr lang="en-US" sz="1625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Central Fact Table: FACT_Sales containing transactional measures including Sales, Profit, Quantity, and Discount metrics for comprehensive business analysis.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331679"/>
            <a:ext cx="5481943" cy="142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76"/>
              </a:lnSpc>
            </a:pPr>
            <a:r>
              <a:rPr lang="en-US" sz="1625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DIM_Customers: Customer profiles &amp; segmentation</a:t>
            </a:r>
          </a:p>
          <a:p>
            <a:pPr marL="0" lvl="0" indent="0" algn="just">
              <a:lnSpc>
                <a:spcPts val="2276"/>
              </a:lnSpc>
            </a:pPr>
            <a:r>
              <a:rPr lang="en-US" sz="1625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DIM_Products: Categories and sub-categories</a:t>
            </a:r>
          </a:p>
          <a:p>
            <a:pPr marL="0" lvl="0" indent="0" algn="just">
              <a:lnSpc>
                <a:spcPts val="2276"/>
              </a:lnSpc>
            </a:pPr>
            <a:r>
              <a:rPr lang="en-US" sz="1625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DIM_Location: Geographic hierarchy data</a:t>
            </a:r>
          </a:p>
          <a:p>
            <a:pPr marL="0" lvl="0" indent="0" algn="just">
              <a:lnSpc>
                <a:spcPts val="2276"/>
              </a:lnSpc>
            </a:pPr>
            <a:r>
              <a:rPr lang="en-US" sz="1625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DIM_Shipping: Shipping modes &amp; logistics</a:t>
            </a:r>
          </a:p>
          <a:p>
            <a:pPr marL="0" lvl="0" indent="0" algn="just">
              <a:lnSpc>
                <a:spcPts val="2276"/>
              </a:lnSpc>
            </a:pPr>
            <a:r>
              <a:rPr lang="en-US" sz="1625" spc="-4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DIM_Order_Date &amp; DIM_Ship_Date: Time dimensions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CD0261-BA4D-68B2-B5B6-3287BBF64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1839563"/>
            <a:ext cx="9372600" cy="7629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140321"/>
            <a:ext cx="1849954" cy="1707845"/>
            <a:chOff x="0" y="0"/>
            <a:chExt cx="2466605" cy="227712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277127"/>
              <a:chOff x="0" y="0"/>
              <a:chExt cx="787566" cy="7270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27067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27067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27067"/>
                    </a:lnTo>
                    <a:lnTo>
                      <a:pt x="0" y="7270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651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84524"/>
              <a:ext cx="1828278" cy="1022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513"/>
                </a:lnSpc>
              </a:pPr>
              <a:r>
                <a:rPr lang="en-US" sz="5625" spc="-36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45788" y="3120851"/>
            <a:ext cx="7196424" cy="321123"/>
            <a:chOff x="0" y="0"/>
            <a:chExt cx="9595232" cy="428164"/>
          </a:xfrm>
        </p:grpSpPr>
        <p:sp>
          <p:nvSpPr>
            <p:cNvPr id="8" name="TextBox 8"/>
            <p:cNvSpPr txBox="1"/>
            <p:nvPr/>
          </p:nvSpPr>
          <p:spPr>
            <a:xfrm>
              <a:off x="0" y="-30011"/>
              <a:ext cx="9378912" cy="45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7"/>
                </a:lnSpc>
              </a:pPr>
              <a:r>
                <a:rPr lang="en-US" sz="2033" b="1" spc="-50" dirty="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DEMONSTRATING TECHNICAL DEPTH WITH SQL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3921" y="4926041"/>
            <a:ext cx="3746706" cy="374670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452" y="4926041"/>
            <a:ext cx="3746706" cy="374670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05912" y="4926041"/>
            <a:ext cx="3746706" cy="374670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077373" y="4926041"/>
            <a:ext cx="3746706" cy="374670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345222" y="5936558"/>
            <a:ext cx="1984104" cy="623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6"/>
              </a:lnSpc>
            </a:pPr>
            <a:r>
              <a:rPr lang="en-US" sz="1927" b="1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COMMON TABLE EXPRESSIONS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4549" y="6972977"/>
            <a:ext cx="2425450" cy="83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172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Modular, readable queries for complex business logic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15753" y="5936558"/>
            <a:ext cx="1984104" cy="623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6"/>
              </a:lnSpc>
            </a:pPr>
            <a:r>
              <a:rPr lang="en-US" sz="1927" b="1" spc="-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WINDOW FUNCTIONS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95080" y="6770805"/>
            <a:ext cx="2425450" cy="83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1725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ROW_NUMBER, RANK, PARTITION BY for dynamic rankings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01910" y="5936558"/>
            <a:ext cx="2354710" cy="623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6"/>
              </a:lnSpc>
            </a:pPr>
            <a:r>
              <a:rPr lang="en-US" sz="1927" b="1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SELF-JOINS ANALYSIS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66540" y="6770805"/>
            <a:ext cx="2425450" cy="83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1725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Market Basket Analysis for co-purchased products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58674" y="5936558"/>
            <a:ext cx="1984104" cy="623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6"/>
              </a:lnSpc>
            </a:pPr>
            <a:r>
              <a:rPr lang="en-US" sz="1927" b="1" spc="-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PROFITABILITY AUDITS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738001" y="6770805"/>
            <a:ext cx="2425450" cy="83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1725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Detecting loss-making customers and products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176506" y="4926023"/>
            <a:ext cx="746986" cy="747004"/>
            <a:chOff x="0" y="0"/>
            <a:chExt cx="995981" cy="996005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47037" y="4926023"/>
            <a:ext cx="746986" cy="747004"/>
            <a:chOff x="0" y="0"/>
            <a:chExt cx="995981" cy="996005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919608" y="4926023"/>
            <a:ext cx="746986" cy="747004"/>
            <a:chOff x="0" y="0"/>
            <a:chExt cx="995981" cy="996005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791068" y="4926023"/>
            <a:ext cx="746986" cy="747004"/>
            <a:chOff x="0" y="0"/>
            <a:chExt cx="995981" cy="996005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3200400" y="780710"/>
            <a:ext cx="11560683" cy="121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43"/>
              </a:lnSpc>
            </a:pPr>
            <a:r>
              <a:rPr lang="en-US" sz="9228" spc="-590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Advanced SQL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28142" y="1358088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28142" y="4449725"/>
            <a:ext cx="9021242" cy="379246"/>
            <a:chOff x="0" y="0"/>
            <a:chExt cx="12028323" cy="505662"/>
          </a:xfrm>
        </p:grpSpPr>
        <p:sp>
          <p:nvSpPr>
            <p:cNvPr id="6" name="TextBox 6"/>
            <p:cNvSpPr txBox="1"/>
            <p:nvPr/>
          </p:nvSpPr>
          <p:spPr>
            <a:xfrm>
              <a:off x="0" y="-49117"/>
              <a:ext cx="11773903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BUSINESS PERFORMANCE SNAPSHOT</a:t>
              </a:r>
            </a:p>
          </p:txBody>
        </p:sp>
        <p:sp>
          <p:nvSpPr>
            <p:cNvPr id="7" name="Freeform 7"/>
            <p:cNvSpPr/>
            <p:nvPr/>
          </p:nvSpPr>
          <p:spPr>
            <a:xfrm rot="-8687136">
              <a:off x="11711303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0" y="5320770"/>
            <a:ext cx="6542795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056208" y="1735917"/>
            <a:ext cx="7107541" cy="1992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35"/>
              </a:lnSpc>
            </a:pPr>
            <a:r>
              <a:rPr lang="en-US" sz="7791" spc="-4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Key Performance</a:t>
            </a:r>
          </a:p>
          <a:p>
            <a:pPr marL="0" lvl="0" indent="0" algn="l">
              <a:lnSpc>
                <a:spcPts val="7635"/>
              </a:lnSpc>
            </a:pPr>
            <a:r>
              <a:rPr lang="en-US" sz="7791" spc="-4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Indicators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28142" y="6322077"/>
            <a:ext cx="9021242" cy="27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07"/>
              </a:lnSpc>
            </a:pP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With $2.3 million in total sales and a profit margin of 12.47%, the Superstore dataset represents a healthy retail operation. Nearly 800 customers generated 5,000 orders across 38,000 units sold, averaging $2,900 per customer. This strong customer value indicates effective pricing strategies and customer engagement, providing a solid foundation for strategic growth initiatives.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6067" y="8665227"/>
            <a:ext cx="3088700" cy="40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07"/>
              </a:lnSpc>
            </a:pPr>
            <a:r>
              <a:rPr lang="en-US" sz="2219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Profit Margin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2135" y="5655327"/>
            <a:ext cx="5116565" cy="204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698"/>
              </a:lnSpc>
              <a:spcBef>
                <a:spcPct val="0"/>
              </a:spcBef>
            </a:pPr>
            <a:r>
              <a:rPr lang="en-US" sz="11927" spc="-763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12.47%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64F7B5-F9DB-3AE7-79F3-BEBEF3156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" y="1"/>
            <a:ext cx="6532962" cy="5320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25863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611022"/>
            <a:ext cx="7514069" cy="435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16"/>
              </a:lnSpc>
            </a:pPr>
            <a:r>
              <a:rPr lang="en-US" sz="2368" b="1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EXECUTIVE SUMMARY DASHBOARD INSIGHTS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92815" y="129"/>
            <a:ext cx="1849954" cy="1848037"/>
            <a:chOff x="0" y="0"/>
            <a:chExt cx="2466605" cy="246405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06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56766" y="1374569"/>
            <a:ext cx="5780387" cy="252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0"/>
              </a:lnSpc>
            </a:pPr>
            <a:r>
              <a:rPr lang="en-US" sz="6714" spc="-42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Business Overview Dashboard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741441"/>
            <a:ext cx="7514069" cy="313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05"/>
              </a:lnSpc>
            </a:pPr>
            <a:r>
              <a:rPr lang="en-US" sz="2218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This executive dashboard reveals key business patterns: Monthly sales and profit trends show clear Q4 seasonality with holiday peaks. Geographic analysis highlights West region leadership in revenue. The decomposition tree enables flexible drill-down from Segment to Category to Sub-category to Region. Sales distribution shows Office Supplies, Technology, and Furniture category breakdown.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04370" y="6340300"/>
            <a:ext cx="1582493" cy="51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76"/>
              </a:lnSpc>
            </a:pPr>
            <a:r>
              <a:rPr lang="en-US" sz="3915" b="1" spc="-11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Q4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56286" y="7109445"/>
            <a:ext cx="1278661" cy="550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14"/>
              </a:lnSpc>
            </a:pPr>
            <a:r>
              <a:rPr lang="en-US" sz="1581" spc="-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PEAK SALES SEASONALITY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2F62AE-AB22-FB5C-6A74-62C75A384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089974"/>
            <a:ext cx="9144000" cy="6785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38179" cy="10287000"/>
            <a:chOff x="0" y="0"/>
            <a:chExt cx="182733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43219" y="4032536"/>
            <a:ext cx="3189919" cy="620584"/>
          </a:xfrm>
          <a:custGeom>
            <a:avLst/>
            <a:gdLst/>
            <a:ahLst/>
            <a:cxnLst/>
            <a:rect l="l" t="t" r="r" b="b"/>
            <a:pathLst>
              <a:path w="3189919" h="620584">
                <a:moveTo>
                  <a:pt x="0" y="0"/>
                </a:moveTo>
                <a:lnTo>
                  <a:pt x="3189919" y="0"/>
                </a:lnTo>
                <a:lnTo>
                  <a:pt x="3189919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459316" y="1438329"/>
            <a:ext cx="2920486" cy="2916826"/>
            <a:chOff x="0" y="0"/>
            <a:chExt cx="567580" cy="5668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65745" tIns="65745" rIns="65745" bIns="657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708475" y="2199673"/>
            <a:ext cx="2459408" cy="80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24"/>
              </a:lnSpc>
            </a:pPr>
            <a:r>
              <a:rPr lang="en-US" sz="6085" b="1" spc="-18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53%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0959" y="3004609"/>
            <a:ext cx="1957200" cy="70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7"/>
              </a:lnSpc>
            </a:pPr>
            <a:r>
              <a:rPr lang="en-US" sz="2034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OFFICE SUPPLIES VOLUME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62431" y="4006332"/>
            <a:ext cx="878239" cy="1092920"/>
          </a:xfrm>
          <a:custGeom>
            <a:avLst/>
            <a:gdLst/>
            <a:ahLst/>
            <a:cxnLst/>
            <a:rect l="l" t="t" r="r" b="b"/>
            <a:pathLst>
              <a:path w="878239" h="1092920">
                <a:moveTo>
                  <a:pt x="0" y="0"/>
                </a:moveTo>
                <a:lnTo>
                  <a:pt x="878240" y="0"/>
                </a:lnTo>
                <a:lnTo>
                  <a:pt x="878240" y="1092919"/>
                </a:lnTo>
                <a:lnTo>
                  <a:pt x="0" y="1092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5490173"/>
            <a:ext cx="4378886" cy="52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93"/>
              </a:lnSpc>
            </a:pPr>
            <a:r>
              <a:rPr lang="en-US" sz="212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PREPARATION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058910"/>
            <a:ext cx="4378886" cy="58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07"/>
              </a:lnSpc>
            </a:pPr>
            <a:r>
              <a:rPr lang="en-US" sz="18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Office Supplies leads in order volume but contributes lower revenue share.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7006271"/>
            <a:ext cx="4378886" cy="942439"/>
            <a:chOff x="0" y="0"/>
            <a:chExt cx="5838515" cy="125658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209550"/>
              <a:ext cx="5838515" cy="631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93"/>
                </a:lnSpc>
              </a:pPr>
              <a:r>
                <a:rPr lang="en-US" sz="212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VOLUME VS VALUE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88445"/>
              <a:ext cx="5838515" cy="768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07"/>
                </a:lnSpc>
              </a:pPr>
              <a:r>
                <a:rPr lang="en-US" sz="18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Technology at 21.9% volume drives 36.4% of total revenue.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8315861"/>
            <a:ext cx="4378886" cy="942439"/>
            <a:chOff x="0" y="0"/>
            <a:chExt cx="5838515" cy="125658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209550"/>
              <a:ext cx="5838515" cy="631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93"/>
                </a:lnSpc>
              </a:pPr>
              <a:r>
                <a:rPr lang="en-US" sz="2126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HERO PRODUCT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88445"/>
              <a:ext cx="5838515" cy="768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07"/>
                </a:lnSpc>
              </a:pPr>
              <a:r>
                <a:rPr lang="en-US" sz="180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Canon imageCLASS 2200 Copier: $61.6K sales, $25.2K profit.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45491" y="1359658"/>
            <a:ext cx="7522404" cy="7567644"/>
            <a:chOff x="0" y="0"/>
            <a:chExt cx="10029872" cy="10090192"/>
          </a:xfrm>
        </p:grpSpPr>
        <p:sp>
          <p:nvSpPr>
            <p:cNvPr id="21" name="TextBox 21"/>
            <p:cNvSpPr txBox="1"/>
            <p:nvPr/>
          </p:nvSpPr>
          <p:spPr>
            <a:xfrm>
              <a:off x="1033544" y="-66675"/>
              <a:ext cx="7126880" cy="523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71"/>
                </a:lnSpc>
              </a:pPr>
              <a:r>
                <a:rPr lang="en-US" sz="2265" b="1" spc="-5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VOLUME VS VALUE PARADOX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544" y="605436"/>
              <a:ext cx="8996329" cy="24001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92"/>
                </a:lnSpc>
              </a:pPr>
              <a:r>
                <a:rPr lang="en-US" sz="2065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Office Supplies dominates order volume at 53.08%, yet Technology captures the highest revenue share at 36.4% despite only 21.9% of orders. This paradox reveals where true profitability lies and informs strategic marketing decisions.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544" y="3475610"/>
              <a:ext cx="7126880" cy="523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71"/>
                </a:lnSpc>
              </a:pPr>
              <a:r>
                <a:rPr lang="en-US" sz="2265" b="1" spc="-5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TOP PERFORMING PRODUCTS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544" y="4630320"/>
              <a:ext cx="8996329" cy="1917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92"/>
                </a:lnSpc>
              </a:pPr>
              <a:r>
                <a:rPr lang="en-US" sz="2065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Canon imageCLASS 2200 Copier leads with $61.6K in sales and $25.2K profit. Fellowes PB500 Electric Punch follows with $27.5K sales. Cisco TelePresence System shows $22.6K sales but a -$1.8K loss requiring audit.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544" y="7017894"/>
              <a:ext cx="7126880" cy="523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71"/>
                </a:lnSpc>
              </a:pPr>
              <a:r>
                <a:rPr lang="en-US" sz="2265" b="1" spc="-5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STRATEGIC RECOMMENDATION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3544" y="7690005"/>
              <a:ext cx="8996329" cy="24001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92"/>
                </a:lnSpc>
              </a:pPr>
              <a:r>
                <a:rPr lang="en-US" sz="2065" spc="-5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Shift marketing investment toward high-margin Technology bundles and hero products. Conduct profitability audits on loss-making items like Cisco TelePresence to determine pricing adjustments or discontinuation.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355403"/>
              <a:ext cx="643052" cy="33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43"/>
                </a:lnSpc>
              </a:pPr>
              <a:r>
                <a:rPr lang="en-US" sz="1862" spc="-55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4897687"/>
              <a:ext cx="643052" cy="33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43"/>
                </a:lnSpc>
              </a:pPr>
              <a:r>
                <a:rPr lang="en-US" sz="1862" spc="-55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8439972"/>
              <a:ext cx="643052" cy="33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43"/>
                </a:lnSpc>
              </a:pPr>
              <a:r>
                <a:rPr lang="en-US" sz="1862" spc="-55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1196251"/>
            <a:ext cx="24226" cy="1038034"/>
            <a:chOff x="0" y="0"/>
            <a:chExt cx="12543" cy="5374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44711" y="1370873"/>
            <a:ext cx="2753109" cy="103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</a:pPr>
            <a:r>
              <a:rPr lang="en-US" sz="4000" spc="-25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Product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28142" y="1358088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28142" y="4449725"/>
            <a:ext cx="9021242" cy="379246"/>
            <a:chOff x="0" y="0"/>
            <a:chExt cx="12028323" cy="505662"/>
          </a:xfrm>
        </p:grpSpPr>
        <p:sp>
          <p:nvSpPr>
            <p:cNvPr id="6" name="TextBox 6"/>
            <p:cNvSpPr txBox="1"/>
            <p:nvPr/>
          </p:nvSpPr>
          <p:spPr>
            <a:xfrm>
              <a:off x="0" y="78630"/>
              <a:ext cx="11773903" cy="427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90"/>
                </a:lnSpc>
              </a:pPr>
              <a:r>
                <a:rPr lang="en-US" sz="1922" b="1" spc="-48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UNDERSTANDING CUSTOMER PROFILES AND REGIONAL SALES PERFORMANCE</a:t>
              </a:r>
            </a:p>
          </p:txBody>
        </p:sp>
        <p:sp>
          <p:nvSpPr>
            <p:cNvPr id="7" name="Freeform 7"/>
            <p:cNvSpPr/>
            <p:nvPr/>
          </p:nvSpPr>
          <p:spPr>
            <a:xfrm rot="-8687136">
              <a:off x="11711303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38046" y="187052"/>
            <a:ext cx="1849954" cy="1661115"/>
            <a:chOff x="0" y="0"/>
            <a:chExt cx="2466605" cy="221482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66605" cy="2214820"/>
              <a:chOff x="0" y="0"/>
              <a:chExt cx="787566" cy="70717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87566" cy="707173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07173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07173"/>
                    </a:lnTo>
                    <a:lnTo>
                      <a:pt x="0" y="70717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787566" cy="745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19164" y="674999"/>
              <a:ext cx="1828278" cy="969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10"/>
                </a:lnSpc>
              </a:pPr>
              <a:r>
                <a:rPr lang="en-US" sz="5316" spc="-34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0" y="5320770"/>
            <a:ext cx="6542795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056208" y="1690850"/>
            <a:ext cx="7107541" cy="2037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86"/>
              </a:lnSpc>
            </a:pPr>
            <a:r>
              <a:rPr lang="en-US" sz="7945" spc="-50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Customer</a:t>
            </a:r>
          </a:p>
          <a:p>
            <a:pPr marL="0" lvl="0" indent="0" algn="l">
              <a:lnSpc>
                <a:spcPts val="7786"/>
              </a:lnSpc>
            </a:pPr>
            <a:r>
              <a:rPr lang="en-US" sz="7945" spc="-50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28142" y="7168662"/>
            <a:ext cx="9021242" cy="189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Customer segmentation reveals Consumer dominance at 52% (409 customers), followed by Corporate at 30% and Home Office at 19%. Regional analysis shows West leading with $725.46K in sales, while South lags at $391.72K, indicating growth opportunities. Top performers include Sean Miller, Tamara Chand, and Raymond Buch, representing key accounts for targeted retention programs and VIP engagement strategies.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6067" y="8425962"/>
            <a:ext cx="3088700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</a:pPr>
            <a:r>
              <a:rPr lang="en-US" sz="180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Consumer segment share of customer 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2135" y="5645802"/>
            <a:ext cx="5116565" cy="209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028"/>
              </a:lnSpc>
              <a:spcBef>
                <a:spcPct val="0"/>
              </a:spcBef>
            </a:pPr>
            <a:r>
              <a:rPr lang="en-US" sz="12162" spc="-778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52%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258780-5F9D-470F-6F81-C5D099BA2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80" y="-27163"/>
            <a:ext cx="6578426" cy="5347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66" y="1206794"/>
            <a:ext cx="5217559" cy="252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0"/>
              </a:lnSpc>
            </a:pPr>
            <a:r>
              <a:rPr lang="en-US" sz="6714" spc="-42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Key Business Insights Summary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312874"/>
            <a:ext cx="8172450" cy="379246"/>
            <a:chOff x="0" y="0"/>
            <a:chExt cx="10896600" cy="505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9117"/>
              <a:ext cx="10820400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CRITICAL STRATEGIC DISCOVERIES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9467526" y="2844084"/>
            <a:ext cx="7975082" cy="7549882"/>
          </a:xfrm>
          <a:custGeom>
            <a:avLst/>
            <a:gdLst/>
            <a:ahLst/>
            <a:cxnLst/>
            <a:rect l="l" t="t" r="r" b="b"/>
            <a:pathLst>
              <a:path w="7975082" h="7549882">
                <a:moveTo>
                  <a:pt x="0" y="0"/>
                </a:moveTo>
                <a:lnTo>
                  <a:pt x="7975082" y="0"/>
                </a:lnTo>
                <a:lnTo>
                  <a:pt x="7975082" y="7549882"/>
                </a:lnTo>
                <a:lnTo>
                  <a:pt x="0" y="7549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870201" y="5311306"/>
            <a:ext cx="7273799" cy="70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89"/>
              </a:lnSpc>
            </a:pPr>
            <a:r>
              <a:rPr lang="en-US" sz="1992" spc="-49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Volume vs. value paradox: Technology drives 36.4% revenue with only 21.9% order volume—prioritize over Office Supplies.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0201" y="6302598"/>
            <a:ext cx="7273799" cy="70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89"/>
              </a:lnSpc>
            </a:pPr>
            <a:r>
              <a:rPr lang="en-US" sz="1992" spc="-49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Consumer segment dominates at 52% of customer base, necessitating targeted loyalty and retention programs.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0201" y="7293889"/>
            <a:ext cx="7273799" cy="70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89"/>
              </a:lnSpc>
            </a:pPr>
            <a:r>
              <a:rPr lang="en-US" sz="1992" spc="-49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Regional performance gap: West leads at $725K while South lags at $392K—opportunity for operational replication.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70201" y="8285181"/>
            <a:ext cx="7273799" cy="70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89"/>
              </a:lnSpc>
            </a:pPr>
            <a:r>
              <a:rPr lang="en-US" sz="1992" spc="-49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Loss-making products identified for audit; strong Q4 seasonality enables inventory and staffing optimization.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52512" y="5400430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052512" y="6391722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52512" y="7383013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52512" y="8376909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36445" y="2779355"/>
            <a:ext cx="7215109" cy="379246"/>
            <a:chOff x="0" y="0"/>
            <a:chExt cx="9620146" cy="505662"/>
          </a:xfrm>
        </p:grpSpPr>
        <p:sp>
          <p:nvSpPr>
            <p:cNvPr id="8" name="TextBox 8"/>
            <p:cNvSpPr txBox="1"/>
            <p:nvPr/>
          </p:nvSpPr>
          <p:spPr>
            <a:xfrm>
              <a:off x="0" y="-49117"/>
              <a:ext cx="9403826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ACTIONABLE BUSINESS INITIATIVES</a:t>
              </a:r>
            </a:p>
          </p:txBody>
        </p:sp>
        <p:sp>
          <p:nvSpPr>
            <p:cNvPr id="9" name="Freeform 9"/>
            <p:cNvSpPr/>
            <p:nvPr/>
          </p:nvSpPr>
          <p:spPr>
            <a:xfrm rot="-8687136">
              <a:off x="9303126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63658" y="1503884"/>
            <a:ext cx="11560683" cy="101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35"/>
              </a:lnSpc>
            </a:pPr>
            <a:r>
              <a:rPr lang="en-US" sz="7791" spc="-49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Strategic Recommendations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731310" y="3878731"/>
            <a:ext cx="3213033" cy="5379569"/>
            <a:chOff x="0" y="0"/>
            <a:chExt cx="1387961" cy="23238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2B42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35426" y="3878731"/>
            <a:ext cx="3213033" cy="5379569"/>
            <a:chOff x="0" y="0"/>
            <a:chExt cx="1387961" cy="23238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39541" y="3878731"/>
            <a:ext cx="3213033" cy="5379569"/>
            <a:chOff x="0" y="0"/>
            <a:chExt cx="1387961" cy="23238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6984F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43657" y="3878731"/>
            <a:ext cx="3213033" cy="5379569"/>
            <a:chOff x="0" y="0"/>
            <a:chExt cx="1387961" cy="23238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9AAD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2595745" y="7780405"/>
            <a:ext cx="622999" cy="351870"/>
            <a:chOff x="0" y="0"/>
            <a:chExt cx="1387983" cy="78403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5780811" y="5004756"/>
            <a:ext cx="622999" cy="351870"/>
            <a:chOff x="0" y="0"/>
            <a:chExt cx="1387983" cy="7840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5400000">
            <a:off x="8984927" y="7780405"/>
            <a:ext cx="622999" cy="351870"/>
            <a:chOff x="0" y="0"/>
            <a:chExt cx="1387983" cy="7840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5400000">
            <a:off x="12179518" y="5004756"/>
            <a:ext cx="622999" cy="351870"/>
            <a:chOff x="0" y="0"/>
            <a:chExt cx="1387983" cy="7840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6984F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69864" y="4615969"/>
            <a:ext cx="2135924" cy="1668329"/>
            <a:chOff x="0" y="0"/>
            <a:chExt cx="2847898" cy="2224439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28575"/>
              <a:ext cx="2847898" cy="690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57"/>
                </a:lnSpc>
              </a:pPr>
              <a:r>
                <a:rPr lang="en-US" sz="1595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REALLOCATE</a:t>
              </a:r>
            </a:p>
            <a:p>
              <a:pPr marL="0" lvl="0" indent="0" algn="just">
                <a:lnSpc>
                  <a:spcPts val="2057"/>
                </a:lnSpc>
              </a:pPr>
              <a:r>
                <a:rPr lang="en-US" sz="1595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MARKETING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948860"/>
              <a:ext cx="2847898" cy="12755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46"/>
                </a:lnSpc>
              </a:pPr>
              <a:r>
                <a:rPr lang="en-US" sz="1508" spc="-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Increase Technology promotion by 25%, reduce Office Supplies mass marketing.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470562" y="7518972"/>
            <a:ext cx="1445813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73980" y="6684286"/>
            <a:ext cx="2135924" cy="1906454"/>
            <a:chOff x="0" y="0"/>
            <a:chExt cx="2847898" cy="2541939"/>
          </a:xfrm>
        </p:grpSpPr>
        <p:sp>
          <p:nvSpPr>
            <p:cNvPr id="40" name="TextBox 40"/>
            <p:cNvSpPr txBox="1"/>
            <p:nvPr/>
          </p:nvSpPr>
          <p:spPr>
            <a:xfrm>
              <a:off x="0" y="-28575"/>
              <a:ext cx="2847898" cy="690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57"/>
                </a:lnSpc>
              </a:pPr>
              <a:r>
                <a:rPr lang="en-US" sz="1595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LAUNCH LOYALTY PROGRAM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948860"/>
              <a:ext cx="2847898" cy="1593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46"/>
                </a:lnSpc>
              </a:pPr>
              <a:r>
                <a:rPr lang="en-US" sz="1508" spc="-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Tiered rewards targeting 52% Consumer segment to boost repeat purchases by 15%.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425798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681912" y="4615969"/>
            <a:ext cx="2135924" cy="1668329"/>
            <a:chOff x="0" y="0"/>
            <a:chExt cx="2847898" cy="2224439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28575"/>
              <a:ext cx="2847898" cy="690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57"/>
                </a:lnSpc>
              </a:pPr>
              <a:r>
                <a:rPr lang="en-US" sz="1595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REPLICATE WEST SUCCESS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948860"/>
              <a:ext cx="2847898" cy="12755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46"/>
                </a:lnSpc>
              </a:pPr>
              <a:r>
                <a:rPr lang="en-US" sz="1508" spc="-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Operational audit and pilot initiatives in South region to boost sales by 20%.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617138" y="7518972"/>
            <a:ext cx="1711285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886027" y="6922411"/>
            <a:ext cx="2135924" cy="1668329"/>
            <a:chOff x="0" y="0"/>
            <a:chExt cx="2847898" cy="2224439"/>
          </a:xfrm>
        </p:grpSpPr>
        <p:sp>
          <p:nvSpPr>
            <p:cNvPr id="48" name="TextBox 48"/>
            <p:cNvSpPr txBox="1"/>
            <p:nvPr/>
          </p:nvSpPr>
          <p:spPr>
            <a:xfrm>
              <a:off x="0" y="-28575"/>
              <a:ext cx="2847898" cy="690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057"/>
                </a:lnSpc>
              </a:pPr>
              <a:r>
                <a:rPr lang="en-US" sz="1595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OPTIMIZE</a:t>
              </a:r>
            </a:p>
            <a:p>
              <a:pPr marL="0" lvl="0" indent="0" algn="just">
                <a:lnSpc>
                  <a:spcPts val="2057"/>
                </a:lnSpc>
              </a:pPr>
              <a:r>
                <a:rPr lang="en-US" sz="1595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PORTFOLIO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948860"/>
              <a:ext cx="2847898" cy="12755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46"/>
                </a:lnSpc>
              </a:pPr>
              <a:r>
                <a:rPr lang="en-US" sz="1508" spc="-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Audit loss-makers, adjust pricing or discontinue, promote hero products.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3837845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0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444268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305" y="9608"/>
            <a:ext cx="1197405" cy="1196165"/>
            <a:chOff x="0" y="0"/>
            <a:chExt cx="1596540" cy="159488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42685" y="9608"/>
            <a:ext cx="1197405" cy="1196165"/>
            <a:chOff x="0" y="0"/>
            <a:chExt cx="1596540" cy="159488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75845" y="9608"/>
            <a:ext cx="1197405" cy="1196165"/>
            <a:chOff x="0" y="0"/>
            <a:chExt cx="1596540" cy="159488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610685" y="1828378"/>
            <a:ext cx="916600" cy="863543"/>
          </a:xfrm>
          <a:custGeom>
            <a:avLst/>
            <a:gdLst/>
            <a:ahLst/>
            <a:cxnLst/>
            <a:rect l="l" t="t" r="r" b="b"/>
            <a:pathLst>
              <a:path w="916600" h="863543">
                <a:moveTo>
                  <a:pt x="0" y="0"/>
                </a:moveTo>
                <a:lnTo>
                  <a:pt x="916600" y="0"/>
                </a:lnTo>
                <a:lnTo>
                  <a:pt x="916600" y="863543"/>
                </a:lnTo>
                <a:lnTo>
                  <a:pt x="0" y="863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 rot="-5400000">
            <a:off x="14824854" y="1935865"/>
            <a:ext cx="1133308" cy="879410"/>
          </a:xfrm>
          <a:custGeom>
            <a:avLst/>
            <a:gdLst/>
            <a:ahLst/>
            <a:cxnLst/>
            <a:rect l="l" t="t" r="r" b="b"/>
            <a:pathLst>
              <a:path w="1133308" h="879410">
                <a:moveTo>
                  <a:pt x="0" y="0"/>
                </a:moveTo>
                <a:lnTo>
                  <a:pt x="1133308" y="0"/>
                </a:lnTo>
                <a:lnTo>
                  <a:pt x="1133308" y="879410"/>
                </a:lnTo>
                <a:lnTo>
                  <a:pt x="0" y="879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861830" y="1826980"/>
            <a:ext cx="750113" cy="946572"/>
          </a:xfrm>
          <a:custGeom>
            <a:avLst/>
            <a:gdLst/>
            <a:ahLst/>
            <a:cxnLst/>
            <a:rect l="l" t="t" r="r" b="b"/>
            <a:pathLst>
              <a:path w="750113" h="946572">
                <a:moveTo>
                  <a:pt x="0" y="0"/>
                </a:moveTo>
                <a:lnTo>
                  <a:pt x="750114" y="0"/>
                </a:lnTo>
                <a:lnTo>
                  <a:pt x="750114" y="946572"/>
                </a:lnTo>
                <a:lnTo>
                  <a:pt x="0" y="946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1028700" y="8125800"/>
            <a:ext cx="22757" cy="975106"/>
            <a:chOff x="0" y="0"/>
            <a:chExt cx="12543" cy="5374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5" y="71731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087142" y="1947475"/>
            <a:ext cx="1235165" cy="670450"/>
          </a:xfrm>
          <a:custGeom>
            <a:avLst/>
            <a:gdLst/>
            <a:ahLst/>
            <a:cxnLst/>
            <a:rect l="l" t="t" r="r" b="b"/>
            <a:pathLst>
              <a:path w="1235165" h="670450">
                <a:moveTo>
                  <a:pt x="0" y="0"/>
                </a:moveTo>
                <a:lnTo>
                  <a:pt x="1235165" y="0"/>
                </a:lnTo>
                <a:lnTo>
                  <a:pt x="1235165" y="670449"/>
                </a:lnTo>
                <a:lnTo>
                  <a:pt x="0" y="670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562973" y="4170724"/>
            <a:ext cx="3336787" cy="214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Star schema database design with optimized fact and dimension tables. ETL pipeline development and data quality management for reliable analytics foundations.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89081" y="4170724"/>
            <a:ext cx="3336787" cy="214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Complex CTEs for modular queries, window functions (ROW_NUMBER, RANK, PARTITION BY), self-joins for market basket analysis, and query performance optimization.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5189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Custom DAX measures, interactive dashboards, advanced visualizations including decomposition trees and Azure maps for geographic insights.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44769" y="4780324"/>
            <a:ext cx="3336787" cy="153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KPI definition and tracking, trend analysis, customer segmentation, profitability audits, and actionable insight generation.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0522" y="8151610"/>
            <a:ext cx="3028965" cy="935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</a:pPr>
            <a:r>
              <a:rPr lang="en-US" sz="3674" spc="-235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Technical Skills Demonstrated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9081" y="7753829"/>
            <a:ext cx="7762895" cy="134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0"/>
              </a:lnSpc>
            </a:pPr>
            <a:r>
              <a:rPr lang="en-US" sz="190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Comprehensive BI competencies spanning the full analytics lifecycle—from data engineering and advanced SQL to sophisticated Power BI dashboards and strategic business intelligence.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2270" y="3090400"/>
            <a:ext cx="3438193" cy="40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ENGINEERING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38378" y="3090400"/>
            <a:ext cx="3438193" cy="40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ADVANCED SQL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4486" y="3090400"/>
            <a:ext cx="3438193" cy="40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POWER BI &amp; DAX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794066" y="3090400"/>
            <a:ext cx="3438193" cy="40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BUSINESS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41386" y="0"/>
            <a:ext cx="4646614" cy="10287000"/>
            <a:chOff x="0" y="0"/>
            <a:chExt cx="1223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00" cy="2709333"/>
            </a:xfrm>
            <a:custGeom>
              <a:avLst/>
              <a:gdLst/>
              <a:ahLst/>
              <a:cxnLst/>
              <a:rect l="l" t="t" r="r" b="b"/>
              <a:pathLst>
                <a:path w="1223800" h="2709333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02839" y="1172167"/>
            <a:ext cx="1723707" cy="8040435"/>
            <a:chOff x="0" y="0"/>
            <a:chExt cx="2298277" cy="10720580"/>
          </a:xfrm>
        </p:grpSpPr>
        <p:sp>
          <p:nvSpPr>
            <p:cNvPr id="6" name="Freeform 6"/>
            <p:cNvSpPr/>
            <p:nvPr/>
          </p:nvSpPr>
          <p:spPr>
            <a:xfrm>
              <a:off x="670290" y="0"/>
              <a:ext cx="944673" cy="947395"/>
            </a:xfrm>
            <a:custGeom>
              <a:avLst/>
              <a:gdLst/>
              <a:ahLst/>
              <a:cxnLst/>
              <a:rect l="l" t="t" r="r" b="b"/>
              <a:pathLst>
                <a:path w="944673" h="947395">
                  <a:moveTo>
                    <a:pt x="0" y="0"/>
                  </a:moveTo>
                  <a:lnTo>
                    <a:pt x="944672" y="0"/>
                  </a:lnTo>
                  <a:lnTo>
                    <a:pt x="944672" y="947395"/>
                  </a:lnTo>
                  <a:lnTo>
                    <a:pt x="0" y="947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63035"/>
              <a:ext cx="2272228" cy="390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53"/>
                </a:lnSpc>
              </a:pPr>
              <a:r>
                <a:rPr lang="en-US" sz="201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Superstore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24" y="1662936"/>
              <a:ext cx="2272228" cy="745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53"/>
                </a:lnSpc>
              </a:pPr>
              <a:r>
                <a:rPr lang="en-US" sz="20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BI &amp; Analytics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24" y="9930303"/>
              <a:ext cx="2272228" cy="390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53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049" y="10330204"/>
              <a:ext cx="2272228" cy="390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15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86465" y="0"/>
            <a:ext cx="4378150" cy="10287000"/>
            <a:chOff x="0" y="0"/>
            <a:chExt cx="678290" cy="15937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8290" cy="1593725"/>
            </a:xfrm>
            <a:custGeom>
              <a:avLst/>
              <a:gdLst/>
              <a:ahLst/>
              <a:cxnLst/>
              <a:rect l="l" t="t" r="r" b="b"/>
              <a:pathLst>
                <a:path w="678290" h="1593725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16964" r="-1696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4650619" y="5002038"/>
            <a:ext cx="2628148" cy="195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46"/>
              </a:lnSpc>
            </a:pPr>
            <a:r>
              <a:rPr lang="en-US" sz="1604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Transforming $2.3M in transactional data into strategic business insights. I look forward to discussing how I can contribute to your team. Questions welcome.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57250"/>
            <a:ext cx="6671890" cy="146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05"/>
              </a:lnSpc>
              <a:spcBef>
                <a:spcPct val="0"/>
              </a:spcBef>
            </a:pPr>
            <a:r>
              <a:rPr lang="en-US" sz="8504" b="1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316167"/>
            <a:ext cx="6671890" cy="323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Questions &amp;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Discussion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1008</Words>
  <Application>Microsoft Office PowerPoint</Application>
  <PresentationFormat>Custom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Poppins Bold</vt:lpstr>
      <vt:lpstr>Arial</vt:lpstr>
      <vt:lpstr>Bricolage Grotesque</vt:lpstr>
      <vt:lpstr>Bricolage Grotesque Bold</vt:lpstr>
      <vt:lpstr>Poppins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BI &amp; Data Analytics Portfolio</dc:title>
  <dc:creator>admin</dc:creator>
  <cp:lastModifiedBy>Mohanad Ibrahim Elsayed Elbadawy</cp:lastModifiedBy>
  <cp:revision>2</cp:revision>
  <dcterms:created xsi:type="dcterms:W3CDTF">2006-08-16T00:00:00Z</dcterms:created>
  <dcterms:modified xsi:type="dcterms:W3CDTF">2026-05-05T23:53:23Z</dcterms:modified>
  <dc:identifier>DAHI1yUuJ04</dc:identifier>
</cp:coreProperties>
</file>